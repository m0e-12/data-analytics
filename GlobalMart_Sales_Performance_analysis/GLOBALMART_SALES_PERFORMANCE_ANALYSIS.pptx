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24" r:id="rId2"/>
    <p:sldId id="2542" r:id="rId3"/>
    <p:sldId id="2544" r:id="rId4"/>
    <p:sldId id="2545" r:id="rId5"/>
    <p:sldId id="2582" r:id="rId6"/>
    <p:sldId id="2554" r:id="rId7"/>
    <p:sldId id="2574" r:id="rId8"/>
    <p:sldId id="2583" r:id="rId9"/>
    <p:sldId id="2584" r:id="rId10"/>
    <p:sldId id="2585" r:id="rId11"/>
    <p:sldId id="2576" r:id="rId12"/>
    <p:sldId id="2587" r:id="rId13"/>
    <p:sldId id="258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AAB0"/>
    <a:srgbClr val="DFE3E9"/>
    <a:srgbClr val="3B7579"/>
    <a:srgbClr val="AAD3D6"/>
    <a:srgbClr val="418287"/>
    <a:srgbClr val="1F1F26"/>
    <a:srgbClr val="D6DBE2"/>
    <a:srgbClr val="CCD2DA"/>
    <a:srgbClr val="BBC3CD"/>
    <a:srgbClr val="D3D8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5034" autoAdjust="0"/>
  </p:normalViewPr>
  <p:slideViewPr>
    <p:cSldViewPr snapToGrid="0" snapToObjects="1" showGuides="1">
      <p:cViewPr varScale="1">
        <p:scale>
          <a:sx n="65" d="100"/>
          <a:sy n="65" d="100"/>
        </p:scale>
        <p:origin x="724" y="6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5136"/>
    </p:cViewPr>
  </p:sorterViewPr>
  <p:notesViewPr>
    <p:cSldViewPr snapToGrid="0" snapToObjects="1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018837-64B5-4E20-83A5-89B993CB3C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2A4FB-A56B-4413-A08B-0E9894B98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8B25D-8766-427E-8C9E-4845048D8DF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77F36-950D-4655-BC4A-F80BE1DBF7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246FD-229D-4B04-9855-212AD8D784A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8A28B-0568-4092-BB1A-13C9B073E3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52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F439B-391B-4B41-826A-951FCF412C34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A0038-7055-434C-B6C4-B8C69565C60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86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664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205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550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746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1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438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940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7390A-9065-7B75-C4D7-990C1DC69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6D604-46A6-F284-A2CC-5ED3BA7D8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3540FB-1606-0118-196E-53AC4F093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F62F0-ED36-D1F7-6BE5-D5AF453BE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042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57C89-9417-7717-E282-FF6AB6C0D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E69CF-03F4-0FCE-1975-F0EAAEE44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4A344D-2657-48EC-F98E-50DC478EE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DD52A-087F-8962-4557-1E557DE13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167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FCB7F-739D-A299-3D73-7FCAC5EF2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84D58-7900-54F5-6C29-F0DCC4BC7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244D1-1509-9CF2-D8D8-DA9187D91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7042A-AFE8-BC5A-FB78-824CE6200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13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8001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6CBBE-1A6F-206C-2BFF-AB0269F46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D0F3E-CA83-D1D1-2623-74FE875AE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A6434-CD78-498C-A439-401EFA423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EEAA7-72E6-7E78-2180-979BC4DD6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981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3B5DB-9077-3AD0-8CA9-DE30F9089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892CE-D91F-118A-8631-6ED3135CD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6190D-3BD9-3CF0-FA3D-151B5133A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C1F27-E5DB-618D-24AB-A0565B109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728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0" y="1539433"/>
            <a:ext cx="8866207" cy="5318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002421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090444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181984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39946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-1" y="1539432"/>
            <a:ext cx="8866207" cy="5318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002421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090444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WWW.WEBSITENAME.COM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181984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3091658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0" y="1539433"/>
            <a:ext cx="8866207" cy="53185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002421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090444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181984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55885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78736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666759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396160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99E7C9A1-D1C2-4923-B0AE-127044646A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866207" y="0"/>
            <a:ext cx="3325792" cy="6858000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328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708475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96498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0" name="Shape 62">
            <a:extLst>
              <a:ext uri="{FF2B5EF4-FFF2-40B4-BE49-F238E27FC236}">
                <a16:creationId xmlns:a16="http://schemas.microsoft.com/office/drawing/2014/main" id="{171AB7B1-2963-43C8-84A5-2FCF188ACF42}"/>
              </a:ext>
            </a:extLst>
          </p:cNvPr>
          <p:cNvSpPr/>
          <p:nvPr userDrawn="1"/>
        </p:nvSpPr>
        <p:spPr>
          <a:xfrm rot="16200000" flipV="1">
            <a:off x="1094402" y="2525899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AA0C5BA-C2D3-4A68-8EDE-1831408789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1933381"/>
              <a:gd name="connsiteY0" fmla="*/ 0 h 6858000"/>
              <a:gd name="connsiteX1" fmla="*/ 11933381 w 11933381"/>
              <a:gd name="connsiteY1" fmla="*/ 0 h 6858000"/>
              <a:gd name="connsiteX2" fmla="*/ 11933381 w 11933381"/>
              <a:gd name="connsiteY2" fmla="*/ 6858000 h 6858000"/>
              <a:gd name="connsiteX3" fmla="*/ 0 w 11933381"/>
              <a:gd name="connsiteY3" fmla="*/ 6858000 h 6858000"/>
              <a:gd name="connsiteX4" fmla="*/ 0 w 11933381"/>
              <a:gd name="connsiteY4" fmla="*/ 5854361 h 6858000"/>
              <a:gd name="connsiteX5" fmla="*/ 8109878 w 11933381"/>
              <a:gd name="connsiteY5" fmla="*/ 5854361 h 6858000"/>
              <a:gd name="connsiteX6" fmla="*/ 8109878 w 11933381"/>
              <a:gd name="connsiteY6" fmla="*/ 1949923 h 6858000"/>
              <a:gd name="connsiteX7" fmla="*/ 0 w 11933381"/>
              <a:gd name="connsiteY7" fmla="*/ 1949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933381" h="6858000">
                <a:moveTo>
                  <a:pt x="0" y="0"/>
                </a:moveTo>
                <a:lnTo>
                  <a:pt x="11933381" y="0"/>
                </a:lnTo>
                <a:lnTo>
                  <a:pt x="11933381" y="6858000"/>
                </a:lnTo>
                <a:lnTo>
                  <a:pt x="0" y="6858000"/>
                </a:lnTo>
                <a:lnTo>
                  <a:pt x="0" y="5854361"/>
                </a:lnTo>
                <a:lnTo>
                  <a:pt x="8109878" y="5854361"/>
                </a:lnTo>
                <a:lnTo>
                  <a:pt x="8109878" y="1949923"/>
                </a:lnTo>
                <a:lnTo>
                  <a:pt x="0" y="194992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737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ivider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373C762-8092-4F49-BC46-91BCA0557F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2430682 h 6858000"/>
              <a:gd name="connsiteX3" fmla="*/ 3823504 w 12191999"/>
              <a:gd name="connsiteY3" fmla="*/ 2430682 h 6858000"/>
              <a:gd name="connsiteX4" fmla="*/ 3823504 w 12191999"/>
              <a:gd name="connsiteY4" fmla="*/ 6335120 h 6858000"/>
              <a:gd name="connsiteX5" fmla="*/ 12191999 w 12191999"/>
              <a:gd name="connsiteY5" fmla="*/ 633512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2430682"/>
                </a:lnTo>
                <a:lnTo>
                  <a:pt x="3823504" y="2430682"/>
                </a:lnTo>
                <a:lnTo>
                  <a:pt x="3823504" y="6335120"/>
                </a:lnTo>
                <a:lnTo>
                  <a:pt x="12191999" y="633512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3208" y="2870519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3209" y="3958542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0" name="Shape 62">
            <a:extLst>
              <a:ext uri="{FF2B5EF4-FFF2-40B4-BE49-F238E27FC236}">
                <a16:creationId xmlns:a16="http://schemas.microsoft.com/office/drawing/2014/main" id="{171AB7B1-2963-43C8-84A5-2FCF188ACF42}"/>
              </a:ext>
            </a:extLst>
          </p:cNvPr>
          <p:cNvSpPr/>
          <p:nvPr userDrawn="1"/>
        </p:nvSpPr>
        <p:spPr>
          <a:xfrm rot="16200000" flipV="1">
            <a:off x="4788658" y="2817190"/>
            <a:ext cx="0" cy="1930310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4235650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52B907-27B2-46E0-B157-E5617EF04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553196"/>
              <a:gd name="connsiteX1" fmla="*/ 12191999 w 12191999"/>
              <a:gd name="connsiteY1" fmla="*/ 0 h 6553196"/>
              <a:gd name="connsiteX2" fmla="*/ 12191999 w 12191999"/>
              <a:gd name="connsiteY2" fmla="*/ 6553196 h 6553196"/>
              <a:gd name="connsiteX3" fmla="*/ 9099630 w 12191999"/>
              <a:gd name="connsiteY3" fmla="*/ 6553196 h 6553196"/>
              <a:gd name="connsiteX4" fmla="*/ 9099630 w 12191999"/>
              <a:gd name="connsiteY4" fmla="*/ 2953562 h 6553196"/>
              <a:gd name="connsiteX5" fmla="*/ 731134 w 12191999"/>
              <a:gd name="connsiteY5" fmla="*/ 2953562 h 6553196"/>
              <a:gd name="connsiteX6" fmla="*/ 731134 w 12191999"/>
              <a:gd name="connsiteY6" fmla="*/ 6553196 h 6553196"/>
              <a:gd name="connsiteX7" fmla="*/ 0 w 12191999"/>
              <a:gd name="connsiteY7" fmla="*/ 6553196 h 6553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553196">
                <a:moveTo>
                  <a:pt x="0" y="0"/>
                </a:moveTo>
                <a:lnTo>
                  <a:pt x="12191999" y="0"/>
                </a:lnTo>
                <a:lnTo>
                  <a:pt x="12191999" y="6553196"/>
                </a:lnTo>
                <a:lnTo>
                  <a:pt x="9099630" y="6553196"/>
                </a:lnTo>
                <a:lnTo>
                  <a:pt x="9099630" y="2953562"/>
                </a:lnTo>
                <a:lnTo>
                  <a:pt x="731134" y="2953562"/>
                </a:lnTo>
                <a:lnTo>
                  <a:pt x="731134" y="6553196"/>
                </a:lnTo>
                <a:lnTo>
                  <a:pt x="0" y="655319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1AEE170-55AC-411A-B257-BD682DE716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0164" y="3379810"/>
            <a:ext cx="7252505" cy="891250"/>
          </a:xfrm>
        </p:spPr>
        <p:txBody>
          <a:bodyPr anchor="t">
            <a:noAutofit/>
          </a:bodyPr>
          <a:lstStyle>
            <a:lvl1pPr algn="l"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92D701DC-3803-4D06-BFB3-A9F78E4022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0165" y="4467833"/>
            <a:ext cx="7252504" cy="338549"/>
          </a:xfrm>
        </p:spPr>
        <p:txBody>
          <a:bodyPr>
            <a:normAutofit/>
          </a:bodyPr>
          <a:lstStyle>
            <a:lvl1pPr marL="0" indent="0" algn="l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9" name="Shape 62">
            <a:extLst>
              <a:ext uri="{FF2B5EF4-FFF2-40B4-BE49-F238E27FC236}">
                <a16:creationId xmlns:a16="http://schemas.microsoft.com/office/drawing/2014/main" id="{71FB5177-8D30-4482-99E2-8BFEB1D37D9E}"/>
              </a:ext>
            </a:extLst>
          </p:cNvPr>
          <p:cNvSpPr/>
          <p:nvPr userDrawn="1"/>
        </p:nvSpPr>
        <p:spPr>
          <a:xfrm rot="16200000" flipV="1">
            <a:off x="1285385" y="3006251"/>
            <a:ext cx="0" cy="2570770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l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934178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626" y="4867539"/>
            <a:ext cx="2275389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 dirty="0"/>
              <a:t>Agenda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34413" y="812800"/>
            <a:ext cx="3557587" cy="5232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55313" y="879710"/>
            <a:ext cx="4294206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5313" y="195615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55313" y="3032600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313" y="410904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55313" y="5185490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42" name="Shape 62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22606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626" y="4867539"/>
            <a:ext cx="2356412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 dirty="0"/>
              <a:t>Agenda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8137" y="2225040"/>
            <a:ext cx="3557587" cy="36680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9432" y="2055335"/>
            <a:ext cx="4294206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59432" y="2782449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59432" y="4352427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59432" y="3567438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59432" y="513741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42" name="Shape 62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F3CED5-D6C7-4A0B-B731-FDB78F4E3341}"/>
              </a:ext>
            </a:extLst>
          </p:cNvPr>
          <p:cNvSpPr/>
          <p:nvPr userDrawn="1"/>
        </p:nvSpPr>
        <p:spPr>
          <a:xfrm>
            <a:off x="3778137" y="0"/>
            <a:ext cx="3586162" cy="2059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043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626" y="4867539"/>
            <a:ext cx="2239803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 noProof="0"/>
              <a:t>Agenda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34413" y="812800"/>
            <a:ext cx="3557587" cy="5232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6854" y="879710"/>
            <a:ext cx="3983858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6854" y="1956155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76854" y="3032600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76854" y="4109045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76854" y="5185490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2D435A30-7C8E-4847-B027-91CBFA1592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7730" y="87971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8" name="Text Placeholder 30">
            <a:extLst>
              <a:ext uri="{FF2B5EF4-FFF2-40B4-BE49-F238E27FC236}">
                <a16:creationId xmlns:a16="http://schemas.microsoft.com/office/drawing/2014/main" id="{819BB324-34C6-4FF7-8780-D294AC6EC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27730" y="1956155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43B3C496-FB0A-4924-A341-696D17E2D9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27730" y="303260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40" name="Text Placeholder 30">
            <a:extLst>
              <a:ext uri="{FF2B5EF4-FFF2-40B4-BE49-F238E27FC236}">
                <a16:creationId xmlns:a16="http://schemas.microsoft.com/office/drawing/2014/main" id="{FEACD5FF-800E-4BB0-82F3-2E0AEF1215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27730" y="4109045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4</a:t>
            </a:r>
          </a:p>
        </p:txBody>
      </p:sp>
      <p:sp>
        <p:nvSpPr>
          <p:cNvPr id="41" name="Text Placeholder 30">
            <a:extLst>
              <a:ext uri="{FF2B5EF4-FFF2-40B4-BE49-F238E27FC236}">
                <a16:creationId xmlns:a16="http://schemas.microsoft.com/office/drawing/2014/main" id="{58B97284-E1BE-4DCD-9CC1-C441D1A857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27730" y="518549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5</a:t>
            </a:r>
          </a:p>
        </p:txBody>
      </p:sp>
      <p:sp>
        <p:nvSpPr>
          <p:cNvPr id="42" name="Shape 62">
            <a:extLst>
              <a:ext uri="{FF2B5EF4-FFF2-40B4-BE49-F238E27FC236}">
                <a16:creationId xmlns:a16="http://schemas.microsoft.com/office/drawing/2014/main" id="{79517603-8FAC-41C9-B5BE-3F8BA7D93CE6}"/>
              </a:ext>
            </a:extLst>
          </p:cNvPr>
          <p:cNvSpPr/>
          <p:nvPr userDrawn="1"/>
        </p:nvSpPr>
        <p:spPr>
          <a:xfrm rot="16200000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</p:spTree>
    <p:extLst>
      <p:ext uri="{BB962C8B-B14F-4D97-AF65-F5344CB8AC3E}">
        <p14:creationId xmlns:p14="http://schemas.microsoft.com/office/powerpoint/2010/main" val="4283145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643" y="1691472"/>
            <a:ext cx="4385841" cy="1325563"/>
          </a:xfrm>
        </p:spPr>
        <p:txBody>
          <a:bodyPr anchor="b"/>
          <a:lstStyle>
            <a:lvl1pPr algn="r"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500437"/>
            <a:ext cx="12192000" cy="3357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69843" y="1690688"/>
            <a:ext cx="4155432" cy="132556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69843" y="1227698"/>
            <a:ext cx="4155432" cy="382749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4934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948" y="1193765"/>
            <a:ext cx="4385841" cy="1325563"/>
          </a:xfrm>
        </p:spPr>
        <p:txBody>
          <a:bodyPr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4947" y="2632337"/>
            <a:ext cx="4385841" cy="3357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0816" y="2540529"/>
            <a:ext cx="3046302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606" y="2540529"/>
            <a:ext cx="3023149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 dirty="0"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0525" y="2944813"/>
            <a:ext cx="3046413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69606" y="2944813"/>
            <a:ext cx="302314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14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0525" y="1193765"/>
            <a:ext cx="6322230" cy="1325563"/>
          </a:xfrm>
        </p:spPr>
        <p:txBody>
          <a:bodyPr lIns="0" anchor="b">
            <a:normAutofit/>
          </a:bodyPr>
          <a:lstStyle>
            <a:lvl1pPr algn="l"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193765"/>
            <a:ext cx="5230788" cy="479613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0816" y="2540529"/>
            <a:ext cx="3046302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606" y="2540529"/>
            <a:ext cx="3023149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 dirty="0"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0525" y="2944813"/>
            <a:ext cx="3046413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69606" y="2944813"/>
            <a:ext cx="302314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603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9009"/>
            <a:ext cx="3416928" cy="2884911"/>
          </a:xfrm>
        </p:spPr>
        <p:txBody>
          <a:bodyPr lIns="0" anchor="t">
            <a:normAutofit/>
          </a:bodyPr>
          <a:lstStyle>
            <a:lvl1pPr algn="r"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10875" y="1809009"/>
            <a:ext cx="3686025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2175" y="1809009"/>
            <a:ext cx="3658010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 dirty="0"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10572" y="2213293"/>
            <a:ext cx="368615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52175" y="2213293"/>
            <a:ext cx="3658010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06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687089"/>
            <a:ext cx="4297212" cy="3449109"/>
          </a:xfrm>
          <a:solidFill>
            <a:schemeClr val="accent2"/>
          </a:solidFill>
        </p:spPr>
        <p:txBody>
          <a:bodyPr vert="horz" lIns="0" tIns="45720" rIns="324000" bIns="45720" rtlCol="0" anchor="ctr">
            <a:normAutofit/>
          </a:bodyPr>
          <a:lstStyle>
            <a:lvl1pPr>
              <a:defRPr lang="en-US" sz="4000" dirty="0">
                <a:latin typeface="+mj-lt"/>
              </a:defRPr>
            </a:lvl1pPr>
          </a:lstStyle>
          <a:p>
            <a:pPr marL="0" lvl="0" algn="r"/>
            <a:r>
              <a:rPr lang="en-US" dirty="0"/>
              <a:t>Click to edit Master 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8750" y="1687089"/>
            <a:ext cx="3686025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2175" y="1687089"/>
            <a:ext cx="3658010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600" b="1" dirty="0">
                <a:latin typeface="+mn-lt"/>
              </a:defRPr>
            </a:lvl1pPr>
          </a:lstStyle>
          <a:p>
            <a:pPr marL="228600" lvl="0" indent="-22860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68447" y="2091373"/>
            <a:ext cx="368615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52175" y="2091373"/>
            <a:ext cx="3658010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hape 62">
            <a:extLst>
              <a:ext uri="{FF2B5EF4-FFF2-40B4-BE49-F238E27FC236}">
                <a16:creationId xmlns:a16="http://schemas.microsoft.com/office/drawing/2014/main" id="{22325F4A-8191-45D3-B031-5847B1E4B3AA}"/>
              </a:ext>
            </a:extLst>
          </p:cNvPr>
          <p:cNvSpPr/>
          <p:nvPr userDrawn="1"/>
        </p:nvSpPr>
        <p:spPr>
          <a:xfrm rot="16200000" flipV="1">
            <a:off x="3332057" y="133183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EEF041-4EFF-410A-AFB4-25A65B462B2D}"/>
              </a:ext>
            </a:extLst>
          </p:cNvPr>
          <p:cNvSpPr/>
          <p:nvPr userDrawn="1"/>
        </p:nvSpPr>
        <p:spPr>
          <a:xfrm>
            <a:off x="12087828" y="1675514"/>
            <a:ext cx="115747" cy="34491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4490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1687090"/>
            <a:ext cx="4568750" cy="1721802"/>
          </a:xfrm>
          <a:noFill/>
        </p:spPr>
        <p:txBody>
          <a:bodyPr lIns="0" rIns="324000" anchor="ctr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C8F08DC-8736-4BFE-8B72-8DD4184DEBE1}"/>
              </a:ext>
            </a:extLst>
          </p:cNvPr>
          <p:cNvSpPr txBox="1">
            <a:spLocks/>
          </p:cNvSpPr>
          <p:nvPr userDrawn="1"/>
        </p:nvSpPr>
        <p:spPr>
          <a:xfrm>
            <a:off x="-1" y="3408891"/>
            <a:ext cx="12203575" cy="3449109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324000" bIns="45720" rtlCol="0" anchor="ctr">
            <a:normAutofit/>
          </a:bodyPr>
          <a:lstStyle>
            <a:lvl1pPr algn="r">
              <a:lnSpc>
                <a:spcPct val="90000"/>
              </a:lnSpc>
              <a:spcBef>
                <a:spcPct val="0"/>
              </a:spcBef>
              <a:buNone/>
              <a:defRPr sz="4000" b="1" i="0" spc="-150">
                <a:solidFill>
                  <a:schemeClr val="tx2"/>
                </a:solidFill>
                <a:latin typeface="Constantia" panose="02030602050306030303" pitchFamily="18" charset="0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endParaRPr lang="en-US" dirty="0">
              <a:latin typeface="+mn-lt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8750" y="3666354"/>
            <a:ext cx="3448800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4055" y="3666354"/>
            <a:ext cx="3450265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600" b="1" dirty="0">
                <a:latin typeface="+mn-lt"/>
              </a:defRPr>
            </a:lvl1pPr>
          </a:lstStyle>
          <a:p>
            <a:pPr marL="228600" lvl="0" indent="-22860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68447" y="4070639"/>
            <a:ext cx="3448800" cy="2253961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54055" y="4070639"/>
            <a:ext cx="3450265" cy="2253961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hape 62">
            <a:extLst>
              <a:ext uri="{FF2B5EF4-FFF2-40B4-BE49-F238E27FC236}">
                <a16:creationId xmlns:a16="http://schemas.microsoft.com/office/drawing/2014/main" id="{DADD8B14-6C18-4FC5-89FD-62D525A444DB}"/>
              </a:ext>
            </a:extLst>
          </p:cNvPr>
          <p:cNvSpPr/>
          <p:nvPr userDrawn="1"/>
        </p:nvSpPr>
        <p:spPr>
          <a:xfrm rot="16200000" flipV="1">
            <a:off x="3332057" y="729943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9156155-C47D-47A0-A08D-DCAC4D742D3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214412" y="3805254"/>
            <a:ext cx="1935925" cy="185477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10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948" y="1193765"/>
            <a:ext cx="4385841" cy="1325563"/>
          </a:xfrm>
        </p:spPr>
        <p:txBody>
          <a:bodyPr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4947" y="2632337"/>
            <a:ext cx="4385841" cy="3357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0816" y="2944854"/>
            <a:ext cx="3046302" cy="3045045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0816" y="2540529"/>
            <a:ext cx="3046302" cy="382749"/>
          </a:xfrm>
        </p:spPr>
        <p:txBody>
          <a:bodyPr lIns="0" anchor="b">
            <a:no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2C5FA2F-DD81-4A72-AB26-A4C663724F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9607" y="2944854"/>
            <a:ext cx="3046302" cy="3045045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606" y="2540529"/>
            <a:ext cx="3023149" cy="382749"/>
          </a:xfrm>
        </p:spPr>
        <p:txBody>
          <a:bodyPr lIns="0" anchor="b">
            <a:no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</p:spTree>
    <p:extLst>
      <p:ext uri="{BB962C8B-B14F-4D97-AF65-F5344CB8AC3E}">
        <p14:creationId xmlns:p14="http://schemas.microsoft.com/office/powerpoint/2010/main" val="39708105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28658" y="836271"/>
            <a:ext cx="4263342" cy="518545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57597" y="836271"/>
            <a:ext cx="4262400" cy="5185458"/>
          </a:xfrm>
          <a:solidFill>
            <a:schemeClr val="accent2"/>
          </a:solidFill>
        </p:spPr>
        <p:txBody>
          <a:bodyPr lIns="252000" tIns="144000" rIns="14400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033" y="1659770"/>
            <a:ext cx="2558005" cy="1325563"/>
          </a:xfrm>
        </p:spPr>
        <p:txBody>
          <a:bodyPr anchor="t"/>
          <a:lstStyle>
            <a:lvl1pPr algn="r">
              <a:defRPr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6" name="Shape 62">
            <a:extLst>
              <a:ext uri="{FF2B5EF4-FFF2-40B4-BE49-F238E27FC236}">
                <a16:creationId xmlns:a16="http://schemas.microsoft.com/office/drawing/2014/main" id="{9EDA533D-03E6-4B64-A81C-A6F9E3301AB5}"/>
              </a:ext>
            </a:extLst>
          </p:cNvPr>
          <p:cNvSpPr/>
          <p:nvPr userDrawn="1"/>
        </p:nvSpPr>
        <p:spPr>
          <a:xfrm rot="16200000" flipV="1">
            <a:off x="965155" y="43498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32174074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3206186"/>
            <a:ext cx="12192000" cy="3651813"/>
          </a:xfrm>
          <a:solidFill>
            <a:schemeClr val="accent2"/>
          </a:solidFill>
        </p:spPr>
        <p:txBody>
          <a:bodyPr lIns="5400000" tIns="216000" rIns="180000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8053" y="1775520"/>
            <a:ext cx="6435524" cy="1325563"/>
          </a:xfrm>
        </p:spPr>
        <p:txBody>
          <a:bodyPr anchor="b"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1836" y="836271"/>
            <a:ext cx="3523423" cy="518545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227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8052" y="3206186"/>
            <a:ext cx="6435525" cy="2815543"/>
          </a:xfrm>
          <a:noFill/>
          <a:ln>
            <a:noFill/>
          </a:ln>
        </p:spPr>
        <p:txBody>
          <a:bodyPr lIns="0" tIns="216000" rIns="180000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8053" y="1775520"/>
            <a:ext cx="6435524" cy="1325563"/>
          </a:xfrm>
        </p:spPr>
        <p:txBody>
          <a:bodyPr lIns="0" anchor="b"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36271"/>
            <a:ext cx="3657059" cy="518545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128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45620" y="3428990"/>
            <a:ext cx="7446380" cy="3429009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659770"/>
            <a:ext cx="3085618" cy="1325563"/>
          </a:xfrm>
        </p:spPr>
        <p:txBody>
          <a:bodyPr lIns="0" anchor="t"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6" name="Shape 62">
            <a:extLst>
              <a:ext uri="{FF2B5EF4-FFF2-40B4-BE49-F238E27FC236}">
                <a16:creationId xmlns:a16="http://schemas.microsoft.com/office/drawing/2014/main" id="{9EDA533D-03E6-4B64-A81C-A6F9E3301AB5}"/>
              </a:ext>
            </a:extLst>
          </p:cNvPr>
          <p:cNvSpPr/>
          <p:nvPr userDrawn="1"/>
        </p:nvSpPr>
        <p:spPr>
          <a:xfrm rot="16200000" flipV="1">
            <a:off x="965155" y="43498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F8596F-E730-47C4-86C3-F4A9B3F78268}"/>
              </a:ext>
            </a:extLst>
          </p:cNvPr>
          <p:cNvSpPr/>
          <p:nvPr userDrawn="1"/>
        </p:nvSpPr>
        <p:spPr>
          <a:xfrm>
            <a:off x="4745620" y="0"/>
            <a:ext cx="7446380" cy="3428990"/>
          </a:xfrm>
          <a:prstGeom prst="rect">
            <a:avLst/>
          </a:prstGeom>
          <a:solidFill>
            <a:schemeClr val="accent2"/>
          </a:solidFill>
        </p:spPr>
        <p:txBody>
          <a:bodyPr vert="horz" lIns="252000" tIns="144000" rIns="144000" bIns="4572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sz="1400" b="0" i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0AB4DF-4264-4631-9A72-72B25F9BEE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9078" y="987207"/>
            <a:ext cx="2837822" cy="382749"/>
          </a:xfrm>
        </p:spPr>
        <p:txBody>
          <a:bodyPr lIns="0" tIns="0" anchor="t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E3F0CD0-D764-45BB-9798-E9046593B3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51371" y="987208"/>
            <a:ext cx="3501106" cy="1397178"/>
          </a:xfrm>
        </p:spPr>
        <p:txBody>
          <a:bodyPr lIns="0" tIns="0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63622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9B3BD2-24FF-4E30-B0DA-4DCD6E57D9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0"/>
            <a:ext cx="113538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92C0C-7E68-45AE-8824-6858C6874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566452"/>
            <a:ext cx="5007015" cy="1440000"/>
          </a:xfrm>
          <a:solidFill>
            <a:schemeClr val="bg1"/>
          </a:solidFill>
        </p:spPr>
        <p:txBody>
          <a:bodyPr lIns="21600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36023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9B3BD2-24FF-4E30-B0DA-4DCD6E57D9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0"/>
            <a:ext cx="113538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A10FA-D831-43AB-9DF1-EDB14480E3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-1478756"/>
            <a:ext cx="4572000" cy="118903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6320271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FBD120B-8377-4641-9618-9DD682652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05635"/>
            <a:ext cx="5845215" cy="1440000"/>
          </a:xfrm>
          <a:solidFill>
            <a:schemeClr val="bg1"/>
          </a:solidFill>
        </p:spPr>
        <p:txBody>
          <a:bodyPr lIns="79200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7402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9417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4979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F09845-7890-4D10-A53B-2A4D0531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5688402"/>
            <a:ext cx="8717280" cy="823070"/>
          </a:xfrm>
          <a:solidFill>
            <a:schemeClr val="bg1"/>
          </a:solidFill>
        </p:spPr>
        <p:txBody>
          <a:bodyPr lIns="0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472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4979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9541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1"/>
            <a:ext cx="11353800" cy="554736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EBB9618-FC05-4C85-8241-A1EFCE81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5688402"/>
            <a:ext cx="8717280" cy="823070"/>
          </a:xfrm>
          <a:solidFill>
            <a:schemeClr val="bg1"/>
          </a:solidFill>
        </p:spPr>
        <p:txBody>
          <a:bodyPr lIns="0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6611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53441"/>
            <a:ext cx="11353800" cy="515111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9884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14209" y="1203769"/>
            <a:ext cx="9563582" cy="506006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F595BB60-922F-4254-AD20-DEA3FA4B7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208" y="339162"/>
            <a:ext cx="9563581" cy="823070"/>
          </a:xfrm>
          <a:noFill/>
        </p:spPr>
        <p:txBody>
          <a:bodyPr lIns="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4657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6030" y="747000"/>
            <a:ext cx="10519940" cy="5364000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2677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-16640" y="0"/>
            <a:ext cx="1137043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7634288" cy="1325563"/>
          </a:xfrm>
        </p:spPr>
        <p:txBody>
          <a:bodyPr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10961-EE19-42C5-8B1B-B6C9862262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30361" y="4719574"/>
            <a:ext cx="2489200" cy="3124200"/>
          </a:xfrm>
        </p:spPr>
        <p:txBody>
          <a:bodyPr tIns="0" bIns="0" anchor="b">
            <a:noAutofit/>
          </a:bodyPr>
          <a:lstStyle>
            <a:lvl1pPr marL="0" indent="0" algn="r">
              <a:buNone/>
              <a:defRPr sz="30000">
                <a:solidFill>
                  <a:schemeClr val="bg1"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48043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5831840" y="0"/>
            <a:ext cx="552195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71525"/>
            <a:ext cx="4699000" cy="1694180"/>
          </a:xfrm>
        </p:spPr>
        <p:txBody>
          <a:bodyPr lIns="0" anchor="t">
            <a:noAutofit/>
          </a:bodyPr>
          <a:lstStyle>
            <a:lvl1pPr>
              <a:defRPr sz="66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Section </a:t>
            </a:r>
            <a:br>
              <a:rPr lang="en-US" dirty="0"/>
            </a:br>
            <a:r>
              <a:rPr lang="en-US" dirty="0"/>
              <a:t>Header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E820AC0-D6D8-48F9-9D9F-A17400A404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30361" y="4554447"/>
            <a:ext cx="2489200" cy="3124198"/>
          </a:xfrm>
        </p:spPr>
        <p:txBody>
          <a:bodyPr bIns="0" anchor="b">
            <a:noAutofit/>
          </a:bodyPr>
          <a:lstStyle>
            <a:lvl1pPr marL="0" indent="0" algn="r">
              <a:buNone/>
              <a:defRPr sz="25000">
                <a:solidFill>
                  <a:schemeClr val="bg1"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17688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1" y="0"/>
            <a:ext cx="70561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71525"/>
            <a:ext cx="5257800" cy="1694180"/>
          </a:xfrm>
        </p:spPr>
        <p:txBody>
          <a:bodyPr lIns="0"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8BD7D8D-4534-4674-90CD-5444E7502E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2636" y="4463007"/>
            <a:ext cx="2489200" cy="3124198"/>
          </a:xfrm>
        </p:spPr>
        <p:txBody>
          <a:bodyPr bIns="0" anchor="b">
            <a:noAutofit/>
          </a:bodyPr>
          <a:lstStyle>
            <a:lvl1pPr marL="0" indent="0" algn="r">
              <a:buNone/>
              <a:defRPr sz="25000">
                <a:solidFill>
                  <a:schemeClr val="bg1">
                    <a:lumMod val="85000"/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2496879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C75DEA4-0A76-480D-A95E-49B8E0DD97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35647" y="3145492"/>
            <a:ext cx="2489200" cy="3124198"/>
          </a:xfrm>
        </p:spPr>
        <p:txBody>
          <a:bodyPr bIns="0" anchor="b">
            <a:noAutofit/>
          </a:bodyPr>
          <a:lstStyle>
            <a:lvl1pPr marL="0" indent="0" algn="l">
              <a:buNone/>
              <a:defRPr sz="25000">
                <a:solidFill>
                  <a:srgbClr val="5DAAB0">
                    <a:alpha val="20000"/>
                  </a:srgb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0" y="1394370"/>
            <a:ext cx="7056121" cy="40692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1934210"/>
            <a:ext cx="5273040" cy="1694180"/>
          </a:xfrm>
        </p:spPr>
        <p:txBody>
          <a:bodyPr lIns="0"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7935321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-16640" y="1"/>
            <a:ext cx="12208639" cy="490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59" y="2691447"/>
            <a:ext cx="6272321" cy="1694180"/>
          </a:xfrm>
        </p:spPr>
        <p:txBody>
          <a:bodyPr lIns="0" anchor="b">
            <a:noAutofit/>
          </a:bodyPr>
          <a:lstStyle>
            <a:lvl1pPr algn="l">
              <a:defRPr sz="6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A110188-91CF-42CE-9B0F-643DB15F9D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91826" y="2613057"/>
            <a:ext cx="2489200" cy="3124198"/>
          </a:xfrm>
        </p:spPr>
        <p:txBody>
          <a:bodyPr bIns="0" anchor="b">
            <a:noAutofit/>
          </a:bodyPr>
          <a:lstStyle>
            <a:lvl1pPr marL="0" indent="0" algn="l">
              <a:buNone/>
              <a:defRPr sz="25000">
                <a:solidFill>
                  <a:srgbClr val="3B7579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630524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9791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6134100" y="0"/>
            <a:ext cx="6057900" cy="6857995"/>
          </a:xfrm>
          <a:prstGeom prst="rect">
            <a:avLst/>
          </a:prstGeom>
          <a:solidFill>
            <a:schemeClr val="accent2">
              <a:alpha val="99000"/>
            </a:schemeClr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1100290"/>
            <a:ext cx="4008437" cy="1395208"/>
          </a:xfrm>
        </p:spPr>
        <p:txBody>
          <a:bodyPr lIns="0" anchor="b"/>
          <a:lstStyle>
            <a:lvl1pPr>
              <a:defRPr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2561159"/>
            <a:ext cx="4008437" cy="602887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829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7422" y="1038724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>
            <a:normAutofit/>
          </a:bodyPr>
          <a:lstStyle>
            <a:lvl1pPr>
              <a:defRPr sz="800">
                <a:latin typeface="+mn-lt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87422" y="2330235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87422" y="3621746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87422" y="4913257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3278528"/>
            <a:ext cx="4008438" cy="256089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6849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64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0" y="0"/>
            <a:ext cx="6057900" cy="6857995"/>
          </a:xfrm>
          <a:prstGeom prst="rect">
            <a:avLst/>
          </a:prstGeom>
          <a:solidFill>
            <a:schemeClr val="accent2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1100290"/>
            <a:ext cx="4008437" cy="1395208"/>
          </a:xfrm>
        </p:spPr>
        <p:txBody>
          <a:bodyPr lIns="0" anchor="b"/>
          <a:lstStyle>
            <a:lvl1pPr>
              <a:defRPr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2561159"/>
            <a:ext cx="4008437" cy="602887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829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3278528"/>
            <a:ext cx="4008438" cy="256089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EADDC907-00BA-437D-8631-DCDAA19616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0155" y="1042384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44A0EDB5-B80A-4225-9741-99690ADBCE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0155" y="2331743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E5C18081-A6EE-421D-96AC-0A7FA46F74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0155" y="3621102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1D21CB0A-3210-4B51-85A0-5111AEBA21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90155" y="4910461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4426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382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34DECF-152F-4E39-AD49-1ADCE9F759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41375" y="3097232"/>
            <a:ext cx="4008120" cy="2742196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1100290"/>
            <a:ext cx="4008437" cy="1395208"/>
          </a:xfrm>
        </p:spPr>
        <p:txBody>
          <a:bodyPr lIns="0" anchor="b">
            <a:norm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2561159"/>
            <a:ext cx="4008437" cy="375081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829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EADDC907-00BA-437D-8631-DCDAA19616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0155" y="1042384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44A0EDB5-B80A-4225-9741-99690ADBCE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0155" y="2331743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E5C18081-A6EE-421D-96AC-0A7FA46F74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0155" y="3621102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1D21CB0A-3210-4B51-85A0-5111AEBA21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90155" y="4910461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922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3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0" y="3721472"/>
            <a:ext cx="12192000" cy="3136523"/>
          </a:xfrm>
          <a:prstGeom prst="rect">
            <a:avLst/>
          </a:prstGeom>
          <a:solidFill>
            <a:schemeClr val="accent2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543" y="358610"/>
            <a:ext cx="10854914" cy="804759"/>
          </a:xfrm>
        </p:spPr>
        <p:txBody>
          <a:bodyPr lIns="0" anchor="b">
            <a:normAutofit/>
          </a:bodyPr>
          <a:lstStyle>
            <a:lvl1pPr algn="ctr">
              <a:defRPr sz="4000"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3303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10608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57913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5218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780" y="392080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76825" y="3923752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2870" y="392080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68916" y="3916626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337302"/>
            <a:ext cx="10685257" cy="541483"/>
          </a:xfrm>
        </p:spPr>
        <p:txBody>
          <a:bodyPr l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8410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543" y="1039330"/>
            <a:ext cx="10854914" cy="804759"/>
          </a:xfrm>
        </p:spPr>
        <p:txBody>
          <a:bodyPr lIns="0" anchor="b">
            <a:normAutofit/>
          </a:bodyPr>
          <a:lstStyle>
            <a:lvl1pPr algn="ctr">
              <a:defRPr sz="4000"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41120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>
            <a:normAutofit/>
          </a:bodyPr>
          <a:lstStyle>
            <a:lvl1pPr>
              <a:defRPr sz="800">
                <a:latin typeface="+mn-lt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88425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35730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883035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780" y="460152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76825" y="4604472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2870" y="460152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68916" y="4597346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018022"/>
            <a:ext cx="10685257" cy="541483"/>
          </a:xfrm>
        </p:spPr>
        <p:txBody>
          <a:bodyPr l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005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6134100" y="0"/>
            <a:ext cx="6057900" cy="6857995"/>
          </a:xfrm>
          <a:prstGeom prst="rect">
            <a:avLst/>
          </a:prstGeom>
          <a:solidFill>
            <a:srgbClr val="DFE3E9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2234610"/>
            <a:ext cx="4008437" cy="1395208"/>
          </a:xfrm>
        </p:spPr>
        <p:txBody>
          <a:bodyPr lIns="0" anchor="b"/>
          <a:lstStyle>
            <a:lvl1pPr>
              <a:defRPr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3695479"/>
            <a:ext cx="4008437" cy="602887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15261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7422" y="1038724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>
            <a:normAutofit/>
          </a:bodyPr>
          <a:lstStyle>
            <a:lvl1pPr>
              <a:defRPr sz="800">
                <a:latin typeface="+mn-lt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87422" y="2330235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87422" y="3621746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87422" y="4913257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4667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BBE79-9A2D-485C-A5FF-D6F6AFD2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82" y="971950"/>
            <a:ext cx="3537030" cy="2036100"/>
          </a:xfrm>
        </p:spPr>
        <p:txBody>
          <a:bodyPr lIns="0"/>
          <a:lstStyle>
            <a:lvl1pPr>
              <a:defRPr>
                <a:solidFill>
                  <a:srgbClr val="5DAAB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8C8A61-C19F-4EF6-A991-5B6EFC5F7A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30" y="729827"/>
            <a:ext cx="1643384" cy="1643384"/>
          </a:xfrm>
          <a:prstGeom prst="ellipse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FB28CC40-CBF3-4E1C-841D-45C7739F95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70602" y="729827"/>
            <a:ext cx="1643384" cy="1643384"/>
          </a:xfrm>
          <a:prstGeom prst="ellipse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12606688-9042-46BE-82EA-2A9034C212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76930" y="3646649"/>
            <a:ext cx="1643384" cy="1643384"/>
          </a:xfrm>
          <a:prstGeom prst="ellipse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4A72397-DF36-48ED-9888-0827D143B9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70602" y="3646649"/>
            <a:ext cx="1643384" cy="1643384"/>
          </a:xfrm>
          <a:prstGeom prst="ellipse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D736A8B-DD51-4DE5-A500-3F2E06CA9E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42770" y="2823837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88F0D2C-15BE-4CDF-B390-80500DDD74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42770" y="2419511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C14EC5C-D80F-42F2-A5F0-D4F07AADAE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44956" y="2823837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35DD3B7-76E7-45B9-B75B-30D7AFC8EE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44956" y="2419511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A499762-AEDB-43BC-89CC-CC0602BEAF7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42770" y="5740657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880EDD7E-326D-47DC-B58D-88ECE1D00F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42770" y="5336331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B92C933-F978-486C-A305-0BAC73E0F15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544956" y="5740657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B18BFAE0-942E-42DB-BD07-596D50E07E3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44956" y="5336331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6" name="Shape 62">
            <a:extLst>
              <a:ext uri="{FF2B5EF4-FFF2-40B4-BE49-F238E27FC236}">
                <a16:creationId xmlns:a16="http://schemas.microsoft.com/office/drawing/2014/main" id="{E2A7A773-8673-42D6-B565-4013CBE76BBD}"/>
              </a:ext>
            </a:extLst>
          </p:cNvPr>
          <p:cNvSpPr/>
          <p:nvPr userDrawn="1"/>
        </p:nvSpPr>
        <p:spPr>
          <a:xfrm rot="16200000" flipV="1">
            <a:off x="965155" y="-184909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6877645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EE8D18BE-27C3-4048-91A7-DD0F0F8D0861}"/>
              </a:ext>
            </a:extLst>
          </p:cNvPr>
          <p:cNvSpPr/>
          <p:nvPr userDrawn="1"/>
        </p:nvSpPr>
        <p:spPr>
          <a:xfrm>
            <a:off x="4190264" y="2280735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FBBE79-9A2D-485C-A5FF-D6F6AFD2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887" y="616350"/>
            <a:ext cx="7978227" cy="1062602"/>
          </a:xfrm>
        </p:spPr>
        <p:txBody>
          <a:bodyPr lIns="0"/>
          <a:lstStyle>
            <a:lvl1pPr algn="ct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8C8A61-C19F-4EF6-A991-5B6EFC5F7A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06007" y="2385012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FB28CC40-CBF3-4E1C-841D-45C7739F95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73705" y="2385012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12606688-9042-46BE-82EA-2A9034C212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6007" y="4352707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4A72397-DF36-48ED-9888-0827D143B9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73705" y="4352707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D736A8B-DD51-4DE5-A500-3F2E06CA9E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04731" y="3168715"/>
            <a:ext cx="2517605" cy="484146"/>
          </a:xfrm>
        </p:spPr>
        <p:txBody>
          <a:bodyPr lIns="0">
            <a:noAutofit/>
          </a:bodyPr>
          <a:lstStyle>
            <a:lvl1pPr marL="0" indent="0" algn="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88F0D2C-15BE-4CDF-B390-80500DDD74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4731" y="2764389"/>
            <a:ext cx="2517605" cy="382749"/>
          </a:xfrm>
        </p:spPr>
        <p:txBody>
          <a:bodyPr lIns="0" anchor="b">
            <a:noAutofit/>
          </a:bodyPr>
          <a:lstStyle>
            <a:lvl1pPr marL="0" indent="0" algn="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C14EC5C-D80F-42F2-A5F0-D4F07AADAE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41403" y="3168715"/>
            <a:ext cx="2517605" cy="484146"/>
          </a:xfrm>
        </p:spPr>
        <p:txBody>
          <a:bodyPr lIns="0">
            <a:noAutofit/>
          </a:bodyPr>
          <a:lstStyle>
            <a:lvl1pPr marL="0" indent="0" algn="l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35DD3B7-76E7-45B9-B75B-30D7AFC8EE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41403" y="2764389"/>
            <a:ext cx="2517605" cy="382749"/>
          </a:xfrm>
        </p:spPr>
        <p:txBody>
          <a:bodyPr lIns="0" anchor="b">
            <a:noAutofit/>
          </a:bodyPr>
          <a:lstStyle>
            <a:lvl1pPr marL="0" indent="0" algn="l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B9FAC90-EA8D-4C0E-A0D1-0D252B50A1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04731" y="5167572"/>
            <a:ext cx="2517605" cy="484146"/>
          </a:xfrm>
        </p:spPr>
        <p:txBody>
          <a:bodyPr lIns="0">
            <a:noAutofit/>
          </a:bodyPr>
          <a:lstStyle>
            <a:lvl1pPr marL="0" indent="0" algn="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5556F808-0B84-4923-9C86-83F13CFABB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4731" y="4763246"/>
            <a:ext cx="2517605" cy="382749"/>
          </a:xfrm>
        </p:spPr>
        <p:txBody>
          <a:bodyPr lIns="0" anchor="b">
            <a:noAutofit/>
          </a:bodyPr>
          <a:lstStyle>
            <a:lvl1pPr marL="0" indent="0" algn="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D49870F-68D7-4CDC-8F2A-696151FA2B9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41403" y="5167572"/>
            <a:ext cx="2517605" cy="484146"/>
          </a:xfrm>
        </p:spPr>
        <p:txBody>
          <a:bodyPr lIns="0">
            <a:noAutofit/>
          </a:bodyPr>
          <a:lstStyle>
            <a:lvl1pPr marL="0" indent="0" algn="l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0C251D-6B9A-485B-A02D-AAF34ECA7B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1403" y="4763246"/>
            <a:ext cx="2517605" cy="382749"/>
          </a:xfrm>
        </p:spPr>
        <p:txBody>
          <a:bodyPr lIns="0" anchor="b">
            <a:noAutofit/>
          </a:bodyPr>
          <a:lstStyle>
            <a:lvl1pPr marL="0" indent="0" algn="l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C623159-5A5F-49ED-8FE8-D17FB82C8BB9}"/>
              </a:ext>
            </a:extLst>
          </p:cNvPr>
          <p:cNvSpPr/>
          <p:nvPr userDrawn="1"/>
        </p:nvSpPr>
        <p:spPr>
          <a:xfrm>
            <a:off x="6157960" y="2280735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3F630FE-FEDE-4DCF-98BE-57FA329D971D}"/>
              </a:ext>
            </a:extLst>
          </p:cNvPr>
          <p:cNvSpPr/>
          <p:nvPr userDrawn="1"/>
        </p:nvSpPr>
        <p:spPr>
          <a:xfrm>
            <a:off x="4190264" y="4236857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CEE0F46-6DA2-40B8-B7F9-015FA8D24163}"/>
              </a:ext>
            </a:extLst>
          </p:cNvPr>
          <p:cNvSpPr/>
          <p:nvPr userDrawn="1"/>
        </p:nvSpPr>
        <p:spPr>
          <a:xfrm>
            <a:off x="6157960" y="4236857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11750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90780" y="839972"/>
            <a:ext cx="4767262" cy="1342045"/>
          </a:xfrm>
        </p:spPr>
        <p:txBody>
          <a:bodyPr lIns="0" anchor="b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90780" y="2635242"/>
            <a:ext cx="4767262" cy="34832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C005EA5-AC3E-B248-B6E7-9CA2F3092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90780" y="2247679"/>
            <a:ext cx="4767262" cy="321901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47900"/>
            <a:ext cx="5620473" cy="3870325"/>
          </a:xfr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07819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80" y="687572"/>
            <a:ext cx="4767262" cy="1342045"/>
          </a:xfrm>
        </p:spPr>
        <p:txBody>
          <a:bodyPr lIns="0"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15420" y="687573"/>
            <a:ext cx="5370740" cy="1342044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392680"/>
            <a:ext cx="10719842" cy="4167505"/>
          </a:xfr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56074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80" y="687572"/>
            <a:ext cx="4767262" cy="1342045"/>
          </a:xfrm>
        </p:spPr>
        <p:txBody>
          <a:bodyPr lIns="0"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15420" y="687573"/>
            <a:ext cx="5370740" cy="1342044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815420" y="2392680"/>
            <a:ext cx="5742622" cy="4023995"/>
          </a:xfr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9E9201F-1E54-4CE0-974D-2A45F04F48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0" y="2392045"/>
            <a:ext cx="4776788" cy="4023995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85145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4535-13A9-914D-A6BC-97AFF2883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289560"/>
            <a:ext cx="10896600" cy="893218"/>
          </a:xfrm>
        </p:spPr>
        <p:txBody>
          <a:bodyPr anchor="b"/>
          <a:lstStyle>
            <a:lvl1pPr algn="ctr"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43A40995-514F-A74C-B120-F2ADB49206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1097363"/>
            <a:ext cx="10896600" cy="6028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EC1740A4-BBA1-4296-9738-ADD3B80B2439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47700" y="1806575"/>
            <a:ext cx="10896600" cy="457835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82984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9723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3659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31D0563-B39F-46E6-AC0D-1CDBD9E89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160" y="524172"/>
            <a:ext cx="2578099" cy="2508588"/>
          </a:xfrm>
        </p:spPr>
        <p:txBody>
          <a:bodyPr lIns="0" anchor="t">
            <a:normAutofit/>
          </a:bodyPr>
          <a:lstStyle>
            <a:lvl1pPr algn="l">
              <a:defRPr sz="4000">
                <a:latin typeface="+mj-lt"/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9" name="Shape 62">
            <a:extLst>
              <a:ext uri="{FF2B5EF4-FFF2-40B4-BE49-F238E27FC236}">
                <a16:creationId xmlns:a16="http://schemas.microsoft.com/office/drawing/2014/main" id="{77A2F74A-3B1A-417B-8998-62F0E7EF0E74}"/>
              </a:ext>
            </a:extLst>
          </p:cNvPr>
          <p:cNvSpPr/>
          <p:nvPr userDrawn="1"/>
        </p:nvSpPr>
        <p:spPr>
          <a:xfrm rot="16200000" flipV="1">
            <a:off x="965155" y="-703069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</p:spTree>
    <p:extLst>
      <p:ext uri="{BB962C8B-B14F-4D97-AF65-F5344CB8AC3E}">
        <p14:creationId xmlns:p14="http://schemas.microsoft.com/office/powerpoint/2010/main" val="12529377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AC817481-FC70-46B9-B779-4E5C04778C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2725" y="198755"/>
            <a:ext cx="3856038" cy="42354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D653D0B5-B695-4544-91E9-B8223EA713F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12285" y="198755"/>
            <a:ext cx="7651115" cy="42354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DB6AEA-811C-4554-97AF-7D4F2639BD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13361" y="4648200"/>
            <a:ext cx="7651116" cy="20116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5694821-2A94-40B8-8AAD-3E3762AFD3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2919" y="4648200"/>
            <a:ext cx="3855721" cy="20116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277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0FA98-2EE8-734A-95BB-A4637DCAD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5A45B-F495-F641-AA7A-36292C3CC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27B26-65C5-5A4B-AAEC-70B3B5201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737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735" r:id="rId2"/>
    <p:sldLayoutId id="2147483689" r:id="rId3"/>
    <p:sldLayoutId id="2147483684" r:id="rId4"/>
    <p:sldLayoutId id="2147483651" r:id="rId5"/>
    <p:sldLayoutId id="2147483685" r:id="rId6"/>
    <p:sldLayoutId id="2147483674" r:id="rId7"/>
    <p:sldLayoutId id="2147483690" r:id="rId8"/>
    <p:sldLayoutId id="2147483694" r:id="rId9"/>
    <p:sldLayoutId id="2147483693" r:id="rId10"/>
    <p:sldLayoutId id="2147483686" r:id="rId11"/>
    <p:sldLayoutId id="2147483703" r:id="rId12"/>
    <p:sldLayoutId id="2147483709" r:id="rId13"/>
    <p:sldLayoutId id="2147483710" r:id="rId14"/>
    <p:sldLayoutId id="2147483711" r:id="rId15"/>
    <p:sldLayoutId id="2147483712" r:id="rId16"/>
    <p:sldLayoutId id="2147483704" r:id="rId17"/>
    <p:sldLayoutId id="2147483702" r:id="rId18"/>
    <p:sldLayoutId id="2147483713" r:id="rId19"/>
    <p:sldLayoutId id="2147483714" r:id="rId20"/>
    <p:sldLayoutId id="2147483715" r:id="rId21"/>
    <p:sldLayoutId id="2147483695" r:id="rId22"/>
    <p:sldLayoutId id="2147483730" r:id="rId23"/>
    <p:sldLayoutId id="2147483698" r:id="rId24"/>
    <p:sldLayoutId id="2147483731" r:id="rId25"/>
    <p:sldLayoutId id="2147483699" r:id="rId26"/>
    <p:sldLayoutId id="2147483732" r:id="rId27"/>
    <p:sldLayoutId id="2147483700" r:id="rId28"/>
    <p:sldLayoutId id="2147483733" r:id="rId29"/>
    <p:sldLayoutId id="2147483701" r:id="rId30"/>
    <p:sldLayoutId id="2147483734" r:id="rId31"/>
    <p:sldLayoutId id="2147483696" r:id="rId32"/>
    <p:sldLayoutId id="2147483705" r:id="rId33"/>
    <p:sldLayoutId id="2147483706" r:id="rId34"/>
    <p:sldLayoutId id="2147483707" r:id="rId35"/>
    <p:sldLayoutId id="2147483708" r:id="rId36"/>
    <p:sldLayoutId id="2147483687" r:id="rId37"/>
    <p:sldLayoutId id="2147483660" r:id="rId38"/>
    <p:sldLayoutId id="2147483719" r:id="rId39"/>
    <p:sldLayoutId id="2147483720" r:id="rId40"/>
    <p:sldLayoutId id="2147483718" r:id="rId41"/>
    <p:sldLayoutId id="2147483721" r:id="rId42"/>
    <p:sldLayoutId id="2147483716" r:id="rId43"/>
    <p:sldLayoutId id="2147483722" r:id="rId44"/>
    <p:sldLayoutId id="2147483723" r:id="rId45"/>
    <p:sldLayoutId id="2147483663" r:id="rId46"/>
    <p:sldLayoutId id="2147483725" r:id="rId47"/>
    <p:sldLayoutId id="2147483726" r:id="rId48"/>
    <p:sldLayoutId id="2147483675" r:id="rId49"/>
    <p:sldLayoutId id="2147483677" r:id="rId50"/>
    <p:sldLayoutId id="2147483729" r:id="rId51"/>
    <p:sldLayoutId id="2147483728" r:id="rId5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-150">
          <a:solidFill>
            <a:schemeClr val="tx2"/>
          </a:solidFill>
          <a:latin typeface="+mj-lt"/>
          <a:ea typeface="+mj-ea"/>
          <a:cs typeface="Gill Sans" panose="020B0502020104020203" pitchFamily="34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1ABD-7339-4C70-82A3-696BE8EF1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50" y="2906127"/>
            <a:ext cx="7252505" cy="1340547"/>
          </a:xfrm>
        </p:spPr>
        <p:txBody>
          <a:bodyPr/>
          <a:lstStyle/>
          <a:p>
            <a:r>
              <a:rPr lang="en-US" sz="4800" dirty="0"/>
              <a:t>GLOBALMART SALES PERFORMANCE ANALYSIS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9EBC96-F2B6-43D3-A761-898E1D269B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5851" y="5383948"/>
            <a:ext cx="7252504" cy="338549"/>
          </a:xfrm>
        </p:spPr>
        <p:txBody>
          <a:bodyPr>
            <a:normAutofit/>
          </a:bodyPr>
          <a:lstStyle/>
          <a:p>
            <a:r>
              <a:rPr lang="en-US" dirty="0"/>
              <a:t>BY MOSES MUIGA</a:t>
            </a:r>
          </a:p>
          <a:p>
            <a:endParaRPr lang="en-US" dirty="0"/>
          </a:p>
        </p:txBody>
      </p:sp>
      <p:pic>
        <p:nvPicPr>
          <p:cNvPr id="13" name="Picture Placeholder 5" descr="Buildings">
            <a:extLst>
              <a:ext uri="{FF2B5EF4-FFF2-40B4-BE49-F238E27FC236}">
                <a16:creationId xmlns:a16="http://schemas.microsoft.com/office/drawing/2014/main" id="{002497D9-8F14-40C3-90A2-8264564E1F9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39656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3E9">
            <a:alpha val="6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12AB6B-2397-478A-BF32-BF0AFF5D8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2" y="3850827"/>
            <a:ext cx="5554438" cy="1025525"/>
          </a:xfrm>
        </p:spPr>
        <p:txBody>
          <a:bodyPr/>
          <a:lstStyle/>
          <a:p>
            <a:r>
              <a:rPr lang="en-US" sz="4000" dirty="0"/>
              <a:t>BUSINESS</a:t>
            </a:r>
            <a:r>
              <a:rPr lang="en-US" sz="4800" dirty="0"/>
              <a:t> </a:t>
            </a:r>
            <a:r>
              <a:rPr lang="en-US" sz="4000" dirty="0"/>
              <a:t>UNDERSTANDING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50CE80-CA72-48E8-BA6A-98B4A0501A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84956" y="1858297"/>
            <a:ext cx="6613044" cy="5250425"/>
          </a:xfrm>
        </p:spPr>
        <p:txBody>
          <a:bodyPr>
            <a:normAutofit/>
          </a:bodyPr>
          <a:lstStyle/>
          <a:p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GlobalMart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a multinational retail company operating across diverse regions and product categories such as Furniture, Office Supplies, and Technology, faces challenges in optimizing its overall sales performance and profitability. </a:t>
            </a:r>
          </a:p>
          <a:p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Despite generating substantial revenue, the company experiences uneven profit margins, regional disparities, and product-level inconsistencies that hinder sustainable growth.</a:t>
            </a:r>
          </a:p>
          <a:p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The goal is to identify growth opportunities, highlight emerging trends, and address performance gaps across regions, product categories, and customer segments. This analysis will enable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GlobalMart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to make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data-driven decisions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that improve profitability, streamline operations, and strengthen its competitive position in the retail market.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E0B6B2-7C69-9BB2-38EB-FDF738E8000B}"/>
              </a:ext>
            </a:extLst>
          </p:cNvPr>
          <p:cNvSpPr txBox="1"/>
          <p:nvPr/>
        </p:nvSpPr>
        <p:spPr>
          <a:xfrm>
            <a:off x="7640320" y="1483360"/>
            <a:ext cx="4220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073952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A9EADE8-F8FB-064B-B08B-E37C41A5F0C3}"/>
              </a:ext>
            </a:extLst>
          </p:cNvPr>
          <p:cNvSpPr txBox="1"/>
          <p:nvPr/>
        </p:nvSpPr>
        <p:spPr>
          <a:xfrm>
            <a:off x="8188960" y="4592320"/>
            <a:ext cx="3672840" cy="2265680"/>
          </a:xfrm>
          <a:prstGeom prst="rect">
            <a:avLst/>
          </a:prstGeom>
          <a:solidFill>
            <a:srgbClr val="5DAAB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249062A-D4B8-4980-B15D-2F0CF58B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6207" y="5557837"/>
            <a:ext cx="5045593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BUSINESS</a:t>
            </a:r>
            <a:br>
              <a:rPr lang="en-US" dirty="0"/>
            </a:br>
            <a:r>
              <a:rPr lang="en-US" sz="4800" dirty="0"/>
              <a:t>UNDERSTANDING</a:t>
            </a:r>
            <a:endParaRPr lang="en-US" sz="4800" dirty="0">
              <a:solidFill>
                <a:srgbClr val="5DAAB0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9FCEF3-B015-47B8-8D8F-7C0C90D275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080" y="934050"/>
            <a:ext cx="11729720" cy="5286568"/>
          </a:xfrm>
        </p:spPr>
        <p:txBody>
          <a:bodyPr>
            <a:no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Identify Sales Performance Trends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Examine overall sales, profit, and order volumes across years, quarters, and months.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Evaluate Regional Contributions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Compare performance across regions (Central, East, South, West).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Highlight high‑margin regions and diagnose underperforming areas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en-US" alt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Assess Product Category &amp; Sub‑Category Profitability</a:t>
            </a:r>
            <a:endParaRPr lang="en-US" alt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Determine which categories (Furniture, Office Supplies, Technology) drive revenue.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4. </a:t>
            </a:r>
            <a:r>
              <a:rPr lang="en-US" alt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Analyze Customer &amp; State-Level Insights</a:t>
            </a:r>
            <a:endParaRPr lang="en-US" alt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Understand customer demand distribution across states.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Evaluate profit margins, discounts, and order volumes at the state level.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5. </a:t>
            </a:r>
            <a:r>
              <a:rPr lang="en-US" alt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Measure Impact of Discounts on Profitability</a:t>
            </a:r>
            <a:endParaRPr lang="en-US" alt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Quantify how average discounts affect profit margins.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6. </a:t>
            </a:r>
            <a:r>
              <a:rPr lang="en-US" alt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Support Strategic Decision-Making</a:t>
            </a:r>
            <a:endParaRPr lang="en-US" alt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Provide actionable insights to executives for: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Improving profitability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Enhancing regional strategies </a:t>
            </a:r>
          </a:p>
          <a:p>
            <a:pPr>
              <a:lnSpc>
                <a:spcPct val="100000"/>
              </a:lnSpc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45C97E3-0CF5-415A-BEEC-B465AA7F13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843" y="466417"/>
            <a:ext cx="4155432" cy="382749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605044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6041AEC-C117-C616-09C7-DA3BD6451432}"/>
              </a:ext>
            </a:extLst>
          </p:cNvPr>
          <p:cNvSpPr txBox="1"/>
          <p:nvPr/>
        </p:nvSpPr>
        <p:spPr>
          <a:xfrm>
            <a:off x="844946" y="4094480"/>
            <a:ext cx="3992880" cy="2763520"/>
          </a:xfrm>
          <a:prstGeom prst="rect">
            <a:avLst/>
          </a:prstGeom>
          <a:solidFill>
            <a:srgbClr val="5DAAB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5A981189-9280-48E8-90AE-7F25E741B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983" y="3822823"/>
            <a:ext cx="4385843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DATA UNDERSTANDING</a:t>
            </a:r>
            <a:endParaRPr lang="en-US" dirty="0">
              <a:solidFill>
                <a:srgbClr val="5DAAB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1A56F4-6BE3-A909-3220-283B61968271}"/>
              </a:ext>
            </a:extLst>
          </p:cNvPr>
          <p:cNvSpPr txBox="1"/>
          <p:nvPr/>
        </p:nvSpPr>
        <p:spPr>
          <a:xfrm>
            <a:off x="5049520" y="975360"/>
            <a:ext cx="707136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The dataset, 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GlobalMart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sales data contains detailed information on orders, including: 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Order ID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Unique identifier for each order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Order Date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Date the order was placed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Ship Date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Date the order was shipped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Region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Geographical region (e.g., East, West, Central, South)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State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State within the region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Category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Product category (e.g., Furniture, Office Supplies, Technology)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Sub-Category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Sub-category of the product (e.g., Chairs, Binders, Phones)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Product Name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Name of the product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Sales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Revenue generated from the sale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Quantity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Number of units sold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Discount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Discount applied (in percentage)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Profit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Profit earned from the sale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998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E558631-7909-FC20-21E2-91B37B2C6435}"/>
              </a:ext>
            </a:extLst>
          </p:cNvPr>
          <p:cNvSpPr txBox="1"/>
          <p:nvPr/>
        </p:nvSpPr>
        <p:spPr>
          <a:xfrm>
            <a:off x="782320" y="5801360"/>
            <a:ext cx="10627360" cy="1056640"/>
          </a:xfrm>
          <a:prstGeom prst="rect">
            <a:avLst/>
          </a:prstGeom>
          <a:solidFill>
            <a:srgbClr val="5DAAB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8CD555-AB49-4CAE-998F-97A85F59A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524172"/>
            <a:ext cx="2946400" cy="2508588"/>
          </a:xfrm>
        </p:spPr>
        <p:txBody>
          <a:bodyPr>
            <a:normAutofit/>
          </a:bodyPr>
          <a:lstStyle/>
          <a:p>
            <a:r>
              <a:rPr lang="en-US" sz="5000" dirty="0"/>
              <a:t>DATA</a:t>
            </a:r>
            <a:br>
              <a:rPr lang="en-US" sz="5000" dirty="0"/>
            </a:br>
            <a:r>
              <a:rPr lang="en-US" sz="5000" dirty="0"/>
              <a:t>ANALYSIS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79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DBE169-BA91-4B17-9AF2-4BAD528BE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857" y="761723"/>
            <a:ext cx="4086543" cy="1395208"/>
          </a:xfrm>
        </p:spPr>
        <p:txBody>
          <a:bodyPr>
            <a:normAutofit fontScale="90000"/>
          </a:bodyPr>
          <a:lstStyle/>
          <a:p>
            <a:r>
              <a:rPr lang="en-US" dirty="0"/>
              <a:t>SALES ANALYSIS</a:t>
            </a:r>
            <a:br>
              <a:rPr lang="en-US" dirty="0"/>
            </a:br>
            <a:endParaRPr lang="en-US" dirty="0">
              <a:solidFill>
                <a:srgbClr val="5DAAB0"/>
              </a:solidFill>
            </a:endParaRP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1AEF3ED8-A75C-4318-877C-139C98C000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2919" y="1514988"/>
            <a:ext cx="9646921" cy="192024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Profit peaks in Q4, while Q1 shows the weakest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There is a huge, sharp spike early in the month—close to $0.6M in a single day. After that spike, daily sales drop dramatically and stabilize at almost near-zero levels for the rest of the month.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High profit at mid-range discounts (23–25%)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 lvl="1">
              <a:lnSpc>
                <a:spcPct val="100000"/>
              </a:lnSpc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        </a:t>
            </a:r>
          </a:p>
        </p:txBody>
      </p:sp>
      <p:pic>
        <p:nvPicPr>
          <p:cNvPr id="31" name="Picture 30" descr="A screenshot of a graph&#10;&#10;AI-generated content may be incorrect.">
            <a:extLst>
              <a:ext uri="{FF2B5EF4-FFF2-40B4-BE49-F238E27FC236}">
                <a16:creationId xmlns:a16="http://schemas.microsoft.com/office/drawing/2014/main" id="{C0C876D8-0E8A-B9F4-495F-49F947E49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67" y="3276100"/>
            <a:ext cx="11864896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3F9A722-C416-4CA0-9E81-3AB439623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094" y="440961"/>
            <a:ext cx="4247547" cy="20361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REGIONAL </a:t>
            </a:r>
            <a:r>
              <a:rPr lang="en-US" sz="4000" dirty="0">
                <a:solidFill>
                  <a:schemeClr val="tx2"/>
                </a:solidFill>
              </a:rPr>
              <a:t>ANALYSIS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E97908-58A2-68E4-590C-DB3BB5B8B659}"/>
              </a:ext>
            </a:extLst>
          </p:cNvPr>
          <p:cNvSpPr txBox="1"/>
          <p:nvPr/>
        </p:nvSpPr>
        <p:spPr>
          <a:xfrm>
            <a:off x="108155" y="2349910"/>
            <a:ext cx="5093110" cy="3723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The top 3 states contributing to profit are: Pennsylvania, Illinois and Michigan.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The South Region has the highest profit while the east contributes the lowest.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Ohio state has the highest number of sales, but the profit is average.</a:t>
            </a:r>
          </a:p>
        </p:txBody>
      </p:sp>
      <p:pic>
        <p:nvPicPr>
          <p:cNvPr id="46" name="Picture 4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596037-619F-FA55-D394-469547E23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225" y="1255340"/>
            <a:ext cx="6636775" cy="560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697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3C8FC-E52B-5358-A9DB-8D7F4DF0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5301C33-F3D0-5316-3817-D7742F593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094" y="440961"/>
            <a:ext cx="4247547" cy="20361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PRODUCT ANALYSIS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E8EDBF-1C00-6AC2-59AE-8955587DDDAE}"/>
              </a:ext>
            </a:extLst>
          </p:cNvPr>
          <p:cNvSpPr txBox="1"/>
          <p:nvPr/>
        </p:nvSpPr>
        <p:spPr>
          <a:xfrm>
            <a:off x="108155" y="1928695"/>
            <a:ext cx="38149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Office supplies category has the highest sales while technology has the least.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In terms of average discount accessories have the highest average discount while binders have the least.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Table past is the least profitable product.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Paper has the highest number of sales, but the profit is low.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B61C76-3706-8ABC-A1D1-9C96B4CAAB5E}"/>
              </a:ext>
            </a:extLst>
          </p:cNvPr>
          <p:cNvGrpSpPr/>
          <p:nvPr/>
        </p:nvGrpSpPr>
        <p:grpSpPr>
          <a:xfrm>
            <a:off x="3992880" y="1152352"/>
            <a:ext cx="8090965" cy="5721713"/>
            <a:chOff x="3719290" y="1152352"/>
            <a:chExt cx="8747540" cy="5721713"/>
          </a:xfrm>
        </p:grpSpPr>
        <p:pic>
          <p:nvPicPr>
            <p:cNvPr id="3" name="Picture 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64B84BE0-895E-8455-C6D6-13D84AFBB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9290" y="1152352"/>
              <a:ext cx="5831693" cy="5721713"/>
            </a:xfrm>
            <a:prstGeom prst="rect">
              <a:avLst/>
            </a:prstGeom>
          </p:spPr>
        </p:pic>
        <p:pic>
          <p:nvPicPr>
            <p:cNvPr id="5" name="Picture 4" descr="A graph on a black background&#10;&#10;AI-generated content may be incorrect.">
              <a:extLst>
                <a:ext uri="{FF2B5EF4-FFF2-40B4-BE49-F238E27FC236}">
                  <a16:creationId xmlns:a16="http://schemas.microsoft.com/office/drawing/2014/main" id="{736EF25F-805B-340C-9978-326C46583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0983" y="3934550"/>
              <a:ext cx="2915847" cy="29395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686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ACDB2-8207-5DF9-AD36-85B2FBEB0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E629412-C37E-82F9-9A68-AFCF08A95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094" y="440961"/>
            <a:ext cx="4247547" cy="20361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CUSTOMER ANALYSIS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A676C5-F5E6-753D-54EA-03D8DB069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839" y="1602658"/>
            <a:ext cx="7669161" cy="53151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56E9A4-0045-94A3-A396-A776F901DFB9}"/>
              </a:ext>
            </a:extLst>
          </p:cNvPr>
          <p:cNvSpPr txBox="1"/>
          <p:nvPr/>
        </p:nvSpPr>
        <p:spPr>
          <a:xfrm>
            <a:off x="167148" y="2369574"/>
            <a:ext cx="3972233" cy="280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The Western region has the highest number of total sales but has the lowest profit margin.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Ohio state has the lowest profit margin.</a:t>
            </a:r>
          </a:p>
        </p:txBody>
      </p:sp>
    </p:spTree>
    <p:extLst>
      <p:ext uri="{BB962C8B-B14F-4D97-AF65-F5344CB8AC3E}">
        <p14:creationId xmlns:p14="http://schemas.microsoft.com/office/powerpoint/2010/main" val="309849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A7C7B-30C7-5F4B-551F-CA0AADE1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422C011-021D-CFD6-0C16-CE3A6184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094" y="440961"/>
            <a:ext cx="4247547" cy="20361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EXECUTIVE SUMMARY 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FB793F-B9A0-2BF8-298D-B45C2FF91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641" y="698090"/>
            <a:ext cx="7365359" cy="61599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272539-1B16-24C1-7C43-6A76345E979B}"/>
              </a:ext>
            </a:extLst>
          </p:cNvPr>
          <p:cNvSpPr txBox="1"/>
          <p:nvPr/>
        </p:nvSpPr>
        <p:spPr>
          <a:xfrm>
            <a:off x="269310" y="2150104"/>
            <a:ext cx="382517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Both lines reach their highest values, for total year to date and same period last year in December, with Year to Date significantly outperformed by the previous year </a:t>
            </a:r>
          </a:p>
        </p:txBody>
      </p:sp>
    </p:spTree>
    <p:extLst>
      <p:ext uri="{BB962C8B-B14F-4D97-AF65-F5344CB8AC3E}">
        <p14:creationId xmlns:p14="http://schemas.microsoft.com/office/powerpoint/2010/main" val="3384854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B58A585-52FA-4A45-B2D0-660EC2D22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2437" y="-216775"/>
            <a:ext cx="4767262" cy="1342045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C3E0A7-1C3E-0A40-AC21-1EAD4086C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0147" y="1687368"/>
            <a:ext cx="9874898" cy="3483263"/>
          </a:xfrm>
        </p:spPr>
        <p:txBody>
          <a:bodyPr>
            <a:no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Sales Trends: The West region generates the highest revenue, but profit margins are lower compared to other regions.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Product Performance: Office supplies have the highest sales but the lowest profitability.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Regional Analysis: South region excels in profit and orders despite lower sales compared to the West.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Trends over time: Sales are high during the early days of the month followed by a significant drop and the profit are at peak during Q4.</a:t>
            </a:r>
          </a:p>
        </p:txBody>
      </p:sp>
    </p:spTree>
    <p:extLst>
      <p:ext uri="{BB962C8B-B14F-4D97-AF65-F5344CB8AC3E}">
        <p14:creationId xmlns:p14="http://schemas.microsoft.com/office/powerpoint/2010/main" val="389446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71FB7-27E9-79FC-85AC-CF632A4CD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0F7EA28-3A42-DC6B-A031-71B506608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094" y="440961"/>
            <a:ext cx="5349758" cy="20361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RECOMMENDATIONS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97E98-6E09-3652-1D38-C0F01ABB170D}"/>
              </a:ext>
            </a:extLst>
          </p:cNvPr>
          <p:cNvSpPr txBox="1"/>
          <p:nvPr/>
        </p:nvSpPr>
        <p:spPr>
          <a:xfrm>
            <a:off x="579094" y="1923871"/>
            <a:ext cx="9538300" cy="4190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Reduce discounting in low-profit regions and states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Increase products manufactured during December since the sales are high during this period.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Expand customer targeting in high margin states.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Focus investment to strengthen supply chain and marketing of technology products.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Review the pricing strategies for low-profit products and reassess the cost structure for  Bookcases firm, Bookcases soldier, Laptop build, Binder social and Table past.</a:t>
            </a:r>
          </a:p>
        </p:txBody>
      </p:sp>
    </p:spTree>
    <p:extLst>
      <p:ext uri="{BB962C8B-B14F-4D97-AF65-F5344CB8AC3E}">
        <p14:creationId xmlns:p14="http://schemas.microsoft.com/office/powerpoint/2010/main" val="2803478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50D80-A9B9-2B79-11A9-14AA85F90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4C18873-2223-32A7-D896-1F5007070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094" y="440961"/>
            <a:ext cx="5349758" cy="20361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01062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FT_ELT_Template01">
      <a:dk1>
        <a:srgbClr val="3F3F3F"/>
      </a:dk1>
      <a:lt1>
        <a:srgbClr val="FFFFFF"/>
      </a:lt1>
      <a:dk2>
        <a:srgbClr val="000000"/>
      </a:dk2>
      <a:lt2>
        <a:srgbClr val="A5A5A5"/>
      </a:lt2>
      <a:accent1>
        <a:srgbClr val="5DAAB0"/>
      </a:accent1>
      <a:accent2>
        <a:srgbClr val="DFE3E9"/>
      </a:accent2>
      <a:accent3>
        <a:srgbClr val="BBC3CD"/>
      </a:accent3>
      <a:accent4>
        <a:srgbClr val="484848"/>
      </a:accent4>
      <a:accent5>
        <a:srgbClr val="1F1F26"/>
      </a:accent5>
      <a:accent6>
        <a:srgbClr val="F2CAA2"/>
      </a:accent6>
      <a:hlink>
        <a:srgbClr val="00194C"/>
      </a:hlink>
      <a:folHlink>
        <a:srgbClr val="954F72"/>
      </a:folHlink>
    </a:clrScheme>
    <a:fontScheme name="MSFT_ELT_Template01">
      <a:majorFont>
        <a:latin typeface="Constant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ICK TO ADD TITLE" id="{F1EBDCD4-0DFE-4BFC-B527-76D7C1C6466B}" vid="{B36D0821-FAFD-4A44-B0A3-9261322768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clean sophisticated presentation</Template>
  <TotalTime>189</TotalTime>
  <Words>786</Words>
  <Application>Microsoft Office PowerPoint</Application>
  <PresentationFormat>Widescreen</PresentationFormat>
  <Paragraphs>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Constantia</vt:lpstr>
      <vt:lpstr>Verdana</vt:lpstr>
      <vt:lpstr>Office Theme</vt:lpstr>
      <vt:lpstr>GLOBALMART SALES PERFORMANCE ANALYSIS</vt:lpstr>
      <vt:lpstr>BUSINESS UNDERSTANDING</vt:lpstr>
      <vt:lpstr>BUSINESS UNDERSTANDING</vt:lpstr>
      <vt:lpstr>DATA UNDERSTANDING</vt:lpstr>
      <vt:lpstr>DATA ANALYSIS </vt:lpstr>
      <vt:lpstr>SALES ANALYSIS </vt:lpstr>
      <vt:lpstr>REGIONAL ANALYSIS</vt:lpstr>
      <vt:lpstr>PRODUCT ANALYSIS</vt:lpstr>
      <vt:lpstr>CUSTOMER ANALYSIS</vt:lpstr>
      <vt:lpstr>EXECUTIVE SUMMARY </vt:lpstr>
      <vt:lpstr>CONCLUSION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m0e mAu</dc:creator>
  <cp:lastModifiedBy>m0e mAu</cp:lastModifiedBy>
  <cp:revision>4</cp:revision>
  <dcterms:created xsi:type="dcterms:W3CDTF">2025-12-06T16:13:19Z</dcterms:created>
  <dcterms:modified xsi:type="dcterms:W3CDTF">2025-12-06T19:22:38Z</dcterms:modified>
</cp:coreProperties>
</file>