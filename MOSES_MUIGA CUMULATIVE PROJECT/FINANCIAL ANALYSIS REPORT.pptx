
<file path=[Content_Types].xml><?xml version="1.0" encoding="utf-8"?>
<Types xmlns="http://schemas.openxmlformats.org/package/2006/content-types">
  <Default ContentType="application/vnd.openxmlformats-officedocument.spreadsheetml.sheet" Extension="xlsx"/>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ms-office.chartcolorstyle+xml" PartName="/ppt/charts/colors5.xml"/>
  <Override ContentType="application/vnd.ms-office.chartcolorstyle+xml" PartName="/ppt/charts/colors6.xml"/>
  <Override ContentType="application/vnd.ms-office.chartcolorstyle+xml" PartName="/ppt/charts/colors4.xml"/>
  <Override ContentType="application/vnd.ms-office.chartcolorstyle+xml" PartName="/ppt/charts/colors1.xml"/>
  <Override ContentType="application/vnd.ms-office.chartcolorstyle+xml" PartName="/ppt/charts/colors2.xml"/>
  <Override ContentType="application/vnd.ms-office.chartcolorstyle+xml" PartName="/ppt/charts/colors3.xml"/>
  <Override ContentType="application/vnd.ms-office.chartcolorstyle+xml" PartName="/ppt/charts/colors7.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3.xml"/>
  <Override ContentType="application/vnd.openxmlformats-officedocument.drawingml.chart+xml" PartName="/ppt/charts/chart2.xml"/>
  <Override ContentType="application/vnd.openxmlformats-officedocument.drawingml.chart+xml" PartName="/ppt/charts/chart7.xml"/>
  <Override ContentType="application/vnd.openxmlformats-officedocument.drawingml.chart+xml" PartName="/ppt/charts/chart5.xml"/>
  <Override ContentType="application/vnd.openxmlformats-officedocument.drawingml.chart+xml" PartName="/ppt/charts/chart4.xml"/>
  <Override ContentType="application/vnd.openxmlformats-officedocument.drawingml.chart+xml" PartName="/ppt/charts/chart6.xml"/>
  <Override ContentType="application/vnd.openxmlformats-officedocument.drawingml.chart+xml" PartName="/ppt/charts/chart1.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ms-office.chartstyle+xml" PartName="/ppt/charts/style3.xml"/>
  <Override ContentType="application/vnd.ms-office.chartstyle+xml" PartName="/ppt/charts/style4.xml"/>
  <Override ContentType="application/vnd.ms-office.chartstyle+xml" PartName="/ppt/charts/style5.xml"/>
  <Override ContentType="application/vnd.ms-office.chartstyle+xml" PartName="/ppt/charts/style7.xml"/>
  <Override ContentType="application/vnd.ms-office.chartstyle+xml" PartName="/ppt/charts/style1.xml"/>
  <Override ContentType="application/vnd.ms-office.chartstyle+xml" PartName="/ppt/charts/style6.xml"/>
  <Override ContentType="application/vnd.ms-office.chartstyle+xml" PartName="/ppt/charts/style2.xml"/>
  <Override ContentType="application/vnd.openxmlformats-officedocument.presentationml.presProps+xml" PartName="/ppt/pres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6858000" cx="12192000"/>
  <p:notesSz cx="6858000" cy="9144000"/>
  <p:embeddedFontLst>
    <p:embeddedFont>
      <p:font typeface="ADLaM Display"/>
      <p:regular r:id="rId21"/>
    </p:embeddedFont>
    <p:embeddedFont>
      <p:font typeface="Century Gothic"/>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6" roundtripDataSignature="AMtx7mjGyEnTvlIAiZPpnmj4F8HVZBWcb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14E1C2A-1501-4656-B1C8-67FE28E2C0BB}">
  <a:tblStyle styleId="{B14E1C2A-1501-4656-B1C8-67FE28E2C0BB}" styleName="Table_0">
    <a:wholeTbl>
      <a:tcTxStyle b="off" i="off">
        <a:font>
          <a:latin typeface="Century Gothic"/>
          <a:ea typeface="Century Gothic"/>
          <a:cs typeface="Century Gothic"/>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9E7E7"/>
          </a:solidFill>
        </a:fill>
      </a:tcStyle>
    </a:wholeTbl>
    <a:band1H>
      <a:tcTxStyle/>
      <a:tcStyle>
        <a:fill>
          <a:solidFill>
            <a:srgbClr val="F3CCCB"/>
          </a:solidFill>
        </a:fill>
      </a:tcStyle>
    </a:band1H>
    <a:band2H>
      <a:tcTxStyle/>
    </a:band2H>
    <a:band1V>
      <a:tcTxStyle/>
      <a:tcStyle>
        <a:fill>
          <a:solidFill>
            <a:srgbClr val="F3CCCB"/>
          </a:solidFill>
        </a:fill>
      </a:tcStyle>
    </a:band1V>
    <a:band2V>
      <a:tcTxStyle/>
    </a:band2V>
    <a:lastCol>
      <a:tcTxStyle b="on" i="off">
        <a:font>
          <a:latin typeface="Century Gothic"/>
          <a:ea typeface="Century Gothic"/>
          <a:cs typeface="Century Gothic"/>
        </a:font>
        <a:schemeClr val="lt1"/>
      </a:tcTxStyle>
      <a:tcStyle>
        <a:fill>
          <a:solidFill>
            <a:schemeClr val="accent1"/>
          </a:solidFill>
        </a:fill>
      </a:tcStyle>
    </a:lastCol>
    <a:firstCol>
      <a:tcTxStyle b="on" i="off">
        <a:font>
          <a:latin typeface="Century Gothic"/>
          <a:ea typeface="Century Gothic"/>
          <a:cs typeface="Century Gothic"/>
        </a:font>
        <a:schemeClr val="lt1"/>
      </a:tcTxStyle>
      <a:tcStyle>
        <a:fill>
          <a:solidFill>
            <a:schemeClr val="accent1"/>
          </a:solidFill>
        </a:fill>
      </a:tcStyle>
    </a:firstCol>
    <a:lastRow>
      <a:tcTxStyle b="on" i="off">
        <a:font>
          <a:latin typeface="Century Gothic"/>
          <a:ea typeface="Century Gothic"/>
          <a:cs typeface="Century Gothic"/>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entury Gothic"/>
          <a:ea typeface="Century Gothic"/>
          <a:cs typeface="Century Gothic"/>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CenturyGothic-regular.fntdata"/><Relationship Id="rId21" Type="http://schemas.openxmlformats.org/officeDocument/2006/relationships/font" Target="fonts/ADLaMDisplay-regular.fntdata"/><Relationship Id="rId24" Type="http://schemas.openxmlformats.org/officeDocument/2006/relationships/font" Target="fonts/CenturyGothic-italic.fntdata"/><Relationship Id="rId23" Type="http://schemas.openxmlformats.org/officeDocument/2006/relationships/font" Target="fonts/CenturyGothic-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customschemas.google.com/relationships/presentationmetadata" Target="metadata"/><Relationship Id="rId25" Type="http://schemas.openxmlformats.org/officeDocument/2006/relationships/font" Target="fonts/CenturyGothic-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oleObject" Target="file:///C:\Users\m0e\Downloads\MOSES_MUIGA%20Cumulative%20Project%20Data.xlsx" TargetMode="External"/></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oleObject" Target="file:///C:\Users\m0e\Downloads\MOSES_MUIGA%20Cumulative%20Project%20Data.xlsx" TargetMode="Externa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oleObject" Target="file:///C:\Users\m0e\Downloads\MOSES_MUIGA%20Cumulative%20Project%20Data.xlsx" TargetMode="External"/></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oleObject" Target="file:///C:\Users\m0e\Downloads\MOSES_MUIGA%20Cumulative%20Project%20Data.xlsx" TargetMode="External"/></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oleObject" Target="file:///C:\Users\m0e\Downloads\MOSES_MUIGA%20Cumulative%20Project%20Data.xlsx" TargetMode="External"/></Relationships>
</file>

<file path=ppt/charts/_rels/chart7.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oleObject" Target="file:///C:\Users\m0e\Downloads\MOSES_MUIGA%20Cumulative%20Project%20Data.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pivotSource>
    <c:name>[MOSES_MUIGA Cumulative Project Data.xlsx]UNITS SOLD!PivotTable1</c:name>
    <c:fmtId val="7"/>
  </c:pivotSource>
  <c:chart>
    <c:autoTitleDeleted val="0"/>
    <c:pivotFmts>
      <c:pivotFmt>
        <c:idx val="0"/>
        <c:spPr>
          <a:solidFill>
            <a:schemeClr val="accent5"/>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5"/>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5"/>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5"/>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5"/>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5"/>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5"/>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5"/>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5"/>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5"/>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5"/>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5"/>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5"/>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5"/>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5"/>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5"/>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5"/>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5"/>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5"/>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solidFill>
            <a:schemeClr val="accent5"/>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solidFill>
            <a:schemeClr val="accent5"/>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
        <c:spPr>
          <a:solidFill>
            <a:schemeClr val="accent5"/>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
        <c:spPr>
          <a:solidFill>
            <a:schemeClr val="accent5"/>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
        <c:spPr>
          <a:solidFill>
            <a:schemeClr val="accent5"/>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4"/>
        <c:spPr>
          <a:solidFill>
            <a:schemeClr val="accent5"/>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areaChart>
        <c:grouping val="stacked"/>
        <c:varyColors val="0"/>
        <c:ser>
          <c:idx val="0"/>
          <c:order val="0"/>
          <c:tx>
            <c:strRef>
              <c:f>'UNITS SOLD'!$B$2:$B$3</c:f>
              <c:strCache>
                <c:ptCount val="1"/>
                <c:pt idx="0">
                  <c:v>Channel Partners</c:v>
                </c:pt>
              </c:strCache>
            </c:strRef>
          </c:tx>
          <c:spPr>
            <a:solidFill>
              <a:schemeClr val="accent5">
                <a:tint val="54000"/>
              </a:schemeClr>
            </a:solidFill>
            <a:ln>
              <a:noFill/>
            </a:ln>
            <a:effectLst/>
          </c:spPr>
          <c:cat>
            <c:strRef>
              <c:f>'UNITS SOLD'!$A$4:$A$9</c:f>
              <c:strCache>
                <c:ptCount val="5"/>
                <c:pt idx="0">
                  <c:v>Canada</c:v>
                </c:pt>
                <c:pt idx="1">
                  <c:v>France</c:v>
                </c:pt>
                <c:pt idx="2">
                  <c:v>Germany</c:v>
                </c:pt>
                <c:pt idx="3">
                  <c:v>Mexico</c:v>
                </c:pt>
                <c:pt idx="4">
                  <c:v>United States of America</c:v>
                </c:pt>
              </c:strCache>
            </c:strRef>
          </c:cat>
          <c:val>
            <c:numRef>
              <c:f>'UNITS SOLD'!$B$4:$B$9</c:f>
              <c:numCache>
                <c:formatCode>General</c:formatCode>
                <c:ptCount val="5"/>
                <c:pt idx="0">
                  <c:v>44062</c:v>
                </c:pt>
                <c:pt idx="1">
                  <c:v>33503</c:v>
                </c:pt>
                <c:pt idx="2">
                  <c:v>29689</c:v>
                </c:pt>
                <c:pt idx="3">
                  <c:v>21163</c:v>
                </c:pt>
                <c:pt idx="4">
                  <c:v>32846.5</c:v>
                </c:pt>
              </c:numCache>
            </c:numRef>
          </c:val>
          <c:extLst>
            <c:ext xmlns:c16="http://schemas.microsoft.com/office/drawing/2014/chart" uri="{C3380CC4-5D6E-409C-BE32-E72D297353CC}">
              <c16:uniqueId val="{00000000-0AA8-41A3-BEDF-5EF3F5D71916}"/>
            </c:ext>
          </c:extLst>
        </c:ser>
        <c:ser>
          <c:idx val="1"/>
          <c:order val="1"/>
          <c:tx>
            <c:strRef>
              <c:f>'UNITS SOLD'!$C$2:$C$3</c:f>
              <c:strCache>
                <c:ptCount val="1"/>
                <c:pt idx="0">
                  <c:v>Enterprise</c:v>
                </c:pt>
              </c:strCache>
            </c:strRef>
          </c:tx>
          <c:spPr>
            <a:solidFill>
              <a:schemeClr val="accent5">
                <a:tint val="77000"/>
              </a:schemeClr>
            </a:solidFill>
            <a:ln>
              <a:noFill/>
            </a:ln>
            <a:effectLst/>
          </c:spPr>
          <c:cat>
            <c:strRef>
              <c:f>'UNITS SOLD'!$A$4:$A$9</c:f>
              <c:strCache>
                <c:ptCount val="5"/>
                <c:pt idx="0">
                  <c:v>Canada</c:v>
                </c:pt>
                <c:pt idx="1">
                  <c:v>France</c:v>
                </c:pt>
                <c:pt idx="2">
                  <c:v>Germany</c:v>
                </c:pt>
                <c:pt idx="3">
                  <c:v>Mexico</c:v>
                </c:pt>
                <c:pt idx="4">
                  <c:v>United States of America</c:v>
                </c:pt>
              </c:strCache>
            </c:strRef>
          </c:cat>
          <c:val>
            <c:numRef>
              <c:f>'UNITS SOLD'!$C$4:$C$9</c:f>
              <c:numCache>
                <c:formatCode>General</c:formatCode>
                <c:ptCount val="5"/>
                <c:pt idx="0">
                  <c:v>34075</c:v>
                </c:pt>
                <c:pt idx="1">
                  <c:v>33222</c:v>
                </c:pt>
                <c:pt idx="2">
                  <c:v>34902.5</c:v>
                </c:pt>
                <c:pt idx="3">
                  <c:v>28638</c:v>
                </c:pt>
                <c:pt idx="4">
                  <c:v>37714.5</c:v>
                </c:pt>
              </c:numCache>
            </c:numRef>
          </c:val>
          <c:extLst>
            <c:ext xmlns:c16="http://schemas.microsoft.com/office/drawing/2014/chart" uri="{C3380CC4-5D6E-409C-BE32-E72D297353CC}">
              <c16:uniqueId val="{00000001-0AA8-41A3-BEDF-5EF3F5D71916}"/>
            </c:ext>
          </c:extLst>
        </c:ser>
        <c:ser>
          <c:idx val="2"/>
          <c:order val="2"/>
          <c:tx>
            <c:strRef>
              <c:f>'UNITS SOLD'!$D$2:$D$3</c:f>
              <c:strCache>
                <c:ptCount val="1"/>
                <c:pt idx="0">
                  <c:v>Government</c:v>
                </c:pt>
              </c:strCache>
            </c:strRef>
          </c:tx>
          <c:spPr>
            <a:solidFill>
              <a:schemeClr val="accent5"/>
            </a:solidFill>
            <a:ln>
              <a:noFill/>
            </a:ln>
            <a:effectLst/>
          </c:spPr>
          <c:cat>
            <c:strRef>
              <c:f>'UNITS SOLD'!$A$4:$A$9</c:f>
              <c:strCache>
                <c:ptCount val="5"/>
                <c:pt idx="0">
                  <c:v>Canada</c:v>
                </c:pt>
                <c:pt idx="1">
                  <c:v>France</c:v>
                </c:pt>
                <c:pt idx="2">
                  <c:v>Germany</c:v>
                </c:pt>
                <c:pt idx="3">
                  <c:v>Mexico</c:v>
                </c:pt>
                <c:pt idx="4">
                  <c:v>United States of America</c:v>
                </c:pt>
              </c:strCache>
            </c:strRef>
          </c:cat>
          <c:val>
            <c:numRef>
              <c:f>'UNITS SOLD'!$D$4:$D$9</c:f>
              <c:numCache>
                <c:formatCode>General</c:formatCode>
                <c:ptCount val="5"/>
                <c:pt idx="0">
                  <c:v>98412</c:v>
                </c:pt>
                <c:pt idx="1">
                  <c:v>104724.5</c:v>
                </c:pt>
                <c:pt idx="2">
                  <c:v>89080</c:v>
                </c:pt>
                <c:pt idx="3">
                  <c:v>91750</c:v>
                </c:pt>
                <c:pt idx="4">
                  <c:v>86707</c:v>
                </c:pt>
              </c:numCache>
            </c:numRef>
          </c:val>
          <c:extLst>
            <c:ext xmlns:c16="http://schemas.microsoft.com/office/drawing/2014/chart" uri="{C3380CC4-5D6E-409C-BE32-E72D297353CC}">
              <c16:uniqueId val="{00000002-0AA8-41A3-BEDF-5EF3F5D71916}"/>
            </c:ext>
          </c:extLst>
        </c:ser>
        <c:ser>
          <c:idx val="3"/>
          <c:order val="3"/>
          <c:tx>
            <c:strRef>
              <c:f>'UNITS SOLD'!$E$2:$E$3</c:f>
              <c:strCache>
                <c:ptCount val="1"/>
                <c:pt idx="0">
                  <c:v>Midmarket</c:v>
                </c:pt>
              </c:strCache>
            </c:strRef>
          </c:tx>
          <c:spPr>
            <a:solidFill>
              <a:schemeClr val="accent5">
                <a:shade val="76000"/>
              </a:schemeClr>
            </a:solidFill>
            <a:ln>
              <a:noFill/>
            </a:ln>
            <a:effectLst/>
          </c:spPr>
          <c:cat>
            <c:strRef>
              <c:f>'UNITS SOLD'!$A$4:$A$9</c:f>
              <c:strCache>
                <c:ptCount val="5"/>
                <c:pt idx="0">
                  <c:v>Canada</c:v>
                </c:pt>
                <c:pt idx="1">
                  <c:v>France</c:v>
                </c:pt>
                <c:pt idx="2">
                  <c:v>Germany</c:v>
                </c:pt>
                <c:pt idx="3">
                  <c:v>Mexico</c:v>
                </c:pt>
                <c:pt idx="4">
                  <c:v>United States of America</c:v>
                </c:pt>
              </c:strCache>
            </c:strRef>
          </c:cat>
          <c:val>
            <c:numRef>
              <c:f>'UNITS SOLD'!$E$4:$E$9</c:f>
              <c:numCache>
                <c:formatCode>General</c:formatCode>
                <c:ptCount val="5"/>
                <c:pt idx="0">
                  <c:v>37772.5</c:v>
                </c:pt>
                <c:pt idx="1">
                  <c:v>42288</c:v>
                </c:pt>
                <c:pt idx="2">
                  <c:v>21599</c:v>
                </c:pt>
                <c:pt idx="3">
                  <c:v>36059</c:v>
                </c:pt>
                <c:pt idx="4">
                  <c:v>33821.5</c:v>
                </c:pt>
              </c:numCache>
            </c:numRef>
          </c:val>
          <c:extLst>
            <c:ext xmlns:c16="http://schemas.microsoft.com/office/drawing/2014/chart" uri="{C3380CC4-5D6E-409C-BE32-E72D297353CC}">
              <c16:uniqueId val="{00000003-0AA8-41A3-BEDF-5EF3F5D71916}"/>
            </c:ext>
          </c:extLst>
        </c:ser>
        <c:ser>
          <c:idx val="4"/>
          <c:order val="4"/>
          <c:tx>
            <c:strRef>
              <c:f>'UNITS SOLD'!$F$2:$F$3</c:f>
              <c:strCache>
                <c:ptCount val="1"/>
                <c:pt idx="0">
                  <c:v>small business</c:v>
                </c:pt>
              </c:strCache>
            </c:strRef>
          </c:tx>
          <c:spPr>
            <a:solidFill>
              <a:schemeClr val="accent5">
                <a:shade val="53000"/>
              </a:schemeClr>
            </a:solidFill>
            <a:ln>
              <a:noFill/>
            </a:ln>
            <a:effectLst/>
          </c:spPr>
          <c:cat>
            <c:strRef>
              <c:f>'UNITS SOLD'!$A$4:$A$9</c:f>
              <c:strCache>
                <c:ptCount val="5"/>
                <c:pt idx="0">
                  <c:v>Canada</c:v>
                </c:pt>
                <c:pt idx="1">
                  <c:v>France</c:v>
                </c:pt>
                <c:pt idx="2">
                  <c:v>Germany</c:v>
                </c:pt>
                <c:pt idx="3">
                  <c:v>Mexico</c:v>
                </c:pt>
                <c:pt idx="4">
                  <c:v>United States of America</c:v>
                </c:pt>
              </c:strCache>
            </c:strRef>
          </c:cat>
          <c:val>
            <c:numRef>
              <c:f>'UNITS SOLD'!$F$4:$F$9</c:f>
              <c:numCache>
                <c:formatCode>General</c:formatCode>
                <c:ptCount val="5"/>
                <c:pt idx="0">
                  <c:v>33107</c:v>
                </c:pt>
                <c:pt idx="1">
                  <c:v>26555.5</c:v>
                </c:pt>
                <c:pt idx="2">
                  <c:v>26223.5</c:v>
                </c:pt>
                <c:pt idx="3">
                  <c:v>25715</c:v>
                </c:pt>
                <c:pt idx="4">
                  <c:v>41538</c:v>
                </c:pt>
              </c:numCache>
            </c:numRef>
          </c:val>
          <c:extLst>
            <c:ext xmlns:c16="http://schemas.microsoft.com/office/drawing/2014/chart" uri="{C3380CC4-5D6E-409C-BE32-E72D297353CC}">
              <c16:uniqueId val="{00000004-0AA8-41A3-BEDF-5EF3F5D71916}"/>
            </c:ext>
          </c:extLst>
        </c:ser>
        <c:dLbls>
          <c:showLegendKey val="0"/>
          <c:showVal val="0"/>
          <c:showCatName val="0"/>
          <c:showSerName val="0"/>
          <c:showPercent val="0"/>
          <c:showBubbleSize val="0"/>
        </c:dLbls>
        <c:axId val="1917762064"/>
        <c:axId val="1917783664"/>
      </c:areaChart>
      <c:catAx>
        <c:axId val="1917762064"/>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17783664"/>
        <c:crosses val="autoZero"/>
        <c:auto val="1"/>
        <c:lblAlgn val="ctr"/>
        <c:lblOffset val="100"/>
        <c:noMultiLvlLbl val="0"/>
      </c:catAx>
      <c:valAx>
        <c:axId val="191778366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17762064"/>
        <c:crosses val="autoZero"/>
        <c:crossBetween val="midCat"/>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[MOSES_MUIGA Cumulative Project Data.xlsx]SEGMENT ANALYSIS!PivotTable5</c:name>
    <c:fmtId val="-1"/>
  </c:pivotSource>
  <c:chart>
    <c:autoTitleDeleted val="0"/>
    <c:pivotFmts>
      <c:pivotFmt>
        <c:idx val="0"/>
        <c:spPr>
          <a:solidFill>
            <a:schemeClr val="accent6">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tx2">
              <a:lumMod val="75000"/>
              <a:lumOff val="2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6">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tx2">
              <a:lumMod val="75000"/>
              <a:lumOff val="2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6">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tx2">
              <a:lumMod val="75000"/>
              <a:lumOff val="2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6">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tx2">
              <a:lumMod val="75000"/>
              <a:lumOff val="2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6">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tx2">
              <a:lumMod val="75000"/>
              <a:lumOff val="2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9284387471723097"/>
          <c:y val="0.10083114610673666"/>
          <c:w val="0.69552832358820627"/>
          <c:h val="0.71639107611548558"/>
        </c:manualLayout>
      </c:layout>
      <c:barChart>
        <c:barDir val="bar"/>
        <c:grouping val="clustered"/>
        <c:varyColors val="0"/>
        <c:ser>
          <c:idx val="0"/>
          <c:order val="0"/>
          <c:tx>
            <c:strRef>
              <c:f>'SEGMENT ANALYSIS'!$B$2</c:f>
              <c:strCache>
                <c:ptCount val="1"/>
                <c:pt idx="0">
                  <c:v>Sum of Sales</c:v>
                </c:pt>
              </c:strCache>
            </c:strRef>
          </c:tx>
          <c:spPr>
            <a:solidFill>
              <a:schemeClr val="accent5">
                <a:lumMod val="60000"/>
                <a:lumOff val="40000"/>
              </a:schemeClr>
            </a:solidFill>
            <a:ln>
              <a:noFill/>
            </a:ln>
            <a:effectLst/>
          </c:spPr>
          <c:invertIfNegative val="0"/>
          <c:cat>
            <c:strRef>
              <c:f>'SEGMENT ANALYSIS'!$A$3:$A$8</c:f>
              <c:strCache>
                <c:ptCount val="5"/>
                <c:pt idx="0">
                  <c:v>Channel Partners</c:v>
                </c:pt>
                <c:pt idx="1">
                  <c:v>Enterprise</c:v>
                </c:pt>
                <c:pt idx="2">
                  <c:v>Government</c:v>
                </c:pt>
                <c:pt idx="3">
                  <c:v>Midmarket</c:v>
                </c:pt>
                <c:pt idx="4">
                  <c:v>small business</c:v>
                </c:pt>
              </c:strCache>
            </c:strRef>
          </c:cat>
          <c:val>
            <c:numRef>
              <c:f>'SEGMENT ANALYSIS'!$B$3:$B$8</c:f>
              <c:numCache>
                <c:formatCode>[$$]#,##0.00</c:formatCode>
                <c:ptCount val="5"/>
                <c:pt idx="0">
                  <c:v>1812953.6399999994</c:v>
                </c:pt>
                <c:pt idx="1">
                  <c:v>19611694.375</c:v>
                </c:pt>
                <c:pt idx="2">
                  <c:v>52504260.670000039</c:v>
                </c:pt>
                <c:pt idx="3">
                  <c:v>2381883.4050000003</c:v>
                </c:pt>
                <c:pt idx="4">
                  <c:v>42427918.5</c:v>
                </c:pt>
              </c:numCache>
            </c:numRef>
          </c:val>
          <c:extLst>
            <c:ext xmlns:c16="http://schemas.microsoft.com/office/drawing/2014/chart" uri="{C3380CC4-5D6E-409C-BE32-E72D297353CC}">
              <c16:uniqueId val="{00000000-AECB-4CA8-96AF-31D07BE22AF2}"/>
            </c:ext>
          </c:extLst>
        </c:ser>
        <c:ser>
          <c:idx val="1"/>
          <c:order val="1"/>
          <c:tx>
            <c:strRef>
              <c:f>'SEGMENT ANALYSIS'!$C$2</c:f>
              <c:strCache>
                <c:ptCount val="1"/>
                <c:pt idx="0">
                  <c:v>Sum of Profit</c:v>
                </c:pt>
              </c:strCache>
            </c:strRef>
          </c:tx>
          <c:spPr>
            <a:solidFill>
              <a:schemeClr val="bg1">
                <a:lumMod val="85000"/>
                <a:lumOff val="15000"/>
              </a:schemeClr>
            </a:solidFill>
            <a:ln>
              <a:noFill/>
            </a:ln>
            <a:effectLst/>
          </c:spPr>
          <c:invertIfNegative val="0"/>
          <c:cat>
            <c:strRef>
              <c:f>'SEGMENT ANALYSIS'!$A$3:$A$8</c:f>
              <c:strCache>
                <c:ptCount val="5"/>
                <c:pt idx="0">
                  <c:v>Channel Partners</c:v>
                </c:pt>
                <c:pt idx="1">
                  <c:v>Enterprise</c:v>
                </c:pt>
                <c:pt idx="2">
                  <c:v>Government</c:v>
                </c:pt>
                <c:pt idx="3">
                  <c:v>Midmarket</c:v>
                </c:pt>
                <c:pt idx="4">
                  <c:v>small business</c:v>
                </c:pt>
              </c:strCache>
            </c:strRef>
          </c:cat>
          <c:val>
            <c:numRef>
              <c:f>'SEGMENT ANALYSIS'!$C$3:$C$8</c:f>
              <c:numCache>
                <c:formatCode>[$$]#,##0.00</c:formatCode>
                <c:ptCount val="5"/>
                <c:pt idx="0">
                  <c:v>1326073.1399999999</c:v>
                </c:pt>
                <c:pt idx="1">
                  <c:v>-614545.625</c:v>
                </c:pt>
                <c:pt idx="2">
                  <c:v>11388173.169999985</c:v>
                </c:pt>
                <c:pt idx="3">
                  <c:v>660103.4049999998</c:v>
                </c:pt>
                <c:pt idx="4">
                  <c:v>4143168.5</c:v>
                </c:pt>
              </c:numCache>
            </c:numRef>
          </c:val>
          <c:extLst>
            <c:ext xmlns:c16="http://schemas.microsoft.com/office/drawing/2014/chart" uri="{C3380CC4-5D6E-409C-BE32-E72D297353CC}">
              <c16:uniqueId val="{00000001-AECB-4CA8-96AF-31D07BE22AF2}"/>
            </c:ext>
          </c:extLst>
        </c:ser>
        <c:dLbls>
          <c:showLegendKey val="0"/>
          <c:showVal val="0"/>
          <c:showCatName val="0"/>
          <c:showSerName val="0"/>
          <c:showPercent val="0"/>
          <c:showBubbleSize val="0"/>
        </c:dLbls>
        <c:gapWidth val="219"/>
        <c:axId val="1661012095"/>
        <c:axId val="1661014495"/>
      </c:barChart>
      <c:catAx>
        <c:axId val="1661012095"/>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61014495"/>
        <c:crosses val="autoZero"/>
        <c:auto val="1"/>
        <c:lblAlgn val="ctr"/>
        <c:lblOffset val="100"/>
        <c:noMultiLvlLbl val="0"/>
      </c:catAx>
      <c:valAx>
        <c:axId val="1661014495"/>
        <c:scaling>
          <c:orientation val="minMax"/>
        </c:scaling>
        <c:delete val="0"/>
        <c:axPos val="b"/>
        <c:majorGridlines>
          <c:spPr>
            <a:ln w="9525" cap="flat" cmpd="sng" algn="ctr">
              <a:solidFill>
                <a:schemeClr val="tx1">
                  <a:lumMod val="15000"/>
                  <a:lumOff val="85000"/>
                </a:schemeClr>
              </a:solidFill>
              <a:round/>
            </a:ln>
            <a:effectLst/>
          </c:spPr>
        </c:majorGridlines>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61012095"/>
        <c:crosses val="autoZero"/>
        <c:crossBetween val="between"/>
      </c:valAx>
      <c:spPr>
        <a:noFill/>
        <a:ln>
          <a:noFill/>
        </a:ln>
        <a:effectLst/>
      </c:spPr>
    </c:plotArea>
    <c:legend>
      <c:legendPos val="r"/>
      <c:layout>
        <c:manualLayout>
          <c:xMode val="edge"/>
          <c:yMode val="edge"/>
          <c:x val="1.4048344215705302E-2"/>
          <c:y val="0.78090478273549135"/>
          <c:w val="0.30706393208922039"/>
          <c:h val="0.21494714202391368"/>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[MOSES_MUIGA Cumulative Project Data.xlsx]COUNTRY ANALYSIS!PivotTable6</c:name>
    <c:fmtId val="16"/>
  </c:pivotSource>
  <c:chart>
    <c:autoTitleDeleted val="0"/>
    <c:pivotFmts>
      <c:pivotFmt>
        <c:idx val="0"/>
        <c:spPr>
          <a:solidFill>
            <a:schemeClr val="accent6">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tx2">
              <a:lumMod val="75000"/>
              <a:lumOff val="2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6">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tx2">
              <a:lumMod val="75000"/>
              <a:lumOff val="2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6">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tx2">
              <a:lumMod val="75000"/>
              <a:lumOff val="2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6">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tx2">
              <a:lumMod val="75000"/>
              <a:lumOff val="2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6">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tx2">
              <a:lumMod val="75000"/>
              <a:lumOff val="2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'COUNTRY ANALYSIS'!$B$2</c:f>
              <c:strCache>
                <c:ptCount val="1"/>
                <c:pt idx="0">
                  <c:v>Sum of Sales</c:v>
                </c:pt>
              </c:strCache>
            </c:strRef>
          </c:tx>
          <c:spPr>
            <a:solidFill>
              <a:schemeClr val="accent5">
                <a:lumMod val="60000"/>
                <a:lumOff val="40000"/>
              </a:schemeClr>
            </a:solidFill>
            <a:ln>
              <a:noFill/>
            </a:ln>
            <a:effectLst/>
          </c:spPr>
          <c:invertIfNegative val="0"/>
          <c:cat>
            <c:strRef>
              <c:f>'COUNTRY ANALYSIS'!$A$3:$A$8</c:f>
              <c:strCache>
                <c:ptCount val="5"/>
                <c:pt idx="0">
                  <c:v>Canada</c:v>
                </c:pt>
                <c:pt idx="1">
                  <c:v>France</c:v>
                </c:pt>
                <c:pt idx="2">
                  <c:v>Germany</c:v>
                </c:pt>
                <c:pt idx="3">
                  <c:v>Mexico</c:v>
                </c:pt>
                <c:pt idx="4">
                  <c:v>United States of America</c:v>
                </c:pt>
              </c:strCache>
            </c:strRef>
          </c:cat>
          <c:val>
            <c:numRef>
              <c:f>'COUNTRY ANALYSIS'!$B$3:$B$8</c:f>
              <c:numCache>
                <c:formatCode>[$$]#,##0.00</c:formatCode>
                <c:ptCount val="5"/>
                <c:pt idx="0">
                  <c:v>24887654.885000005</c:v>
                </c:pt>
                <c:pt idx="1">
                  <c:v>24354172.610000011</c:v>
                </c:pt>
                <c:pt idx="2">
                  <c:v>23517700.820000011</c:v>
                </c:pt>
                <c:pt idx="3">
                  <c:v>20949352.109999999</c:v>
                </c:pt>
                <c:pt idx="4">
                  <c:v>25029830.165000014</c:v>
                </c:pt>
              </c:numCache>
            </c:numRef>
          </c:val>
          <c:extLst>
            <c:ext xmlns:c16="http://schemas.microsoft.com/office/drawing/2014/chart" uri="{C3380CC4-5D6E-409C-BE32-E72D297353CC}">
              <c16:uniqueId val="{00000000-B0F8-466D-81F7-55320C004C97}"/>
            </c:ext>
          </c:extLst>
        </c:ser>
        <c:ser>
          <c:idx val="1"/>
          <c:order val="1"/>
          <c:tx>
            <c:strRef>
              <c:f>'COUNTRY ANALYSIS'!$C$2</c:f>
              <c:strCache>
                <c:ptCount val="1"/>
                <c:pt idx="0">
                  <c:v>Sum of Profit</c:v>
                </c:pt>
              </c:strCache>
            </c:strRef>
          </c:tx>
          <c:spPr>
            <a:solidFill>
              <a:schemeClr val="bg2">
                <a:lumMod val="75000"/>
              </a:schemeClr>
            </a:solidFill>
            <a:ln>
              <a:noFill/>
            </a:ln>
            <a:effectLst/>
          </c:spPr>
          <c:invertIfNegative val="0"/>
          <c:cat>
            <c:strRef>
              <c:f>'COUNTRY ANALYSIS'!$A$3:$A$8</c:f>
              <c:strCache>
                <c:ptCount val="5"/>
                <c:pt idx="0">
                  <c:v>Canada</c:v>
                </c:pt>
                <c:pt idx="1">
                  <c:v>France</c:v>
                </c:pt>
                <c:pt idx="2">
                  <c:v>Germany</c:v>
                </c:pt>
                <c:pt idx="3">
                  <c:v>Mexico</c:v>
                </c:pt>
                <c:pt idx="4">
                  <c:v>United States of America</c:v>
                </c:pt>
              </c:strCache>
            </c:strRef>
          </c:cat>
          <c:val>
            <c:numRef>
              <c:f>'COUNTRY ANALYSIS'!$C$3:$C$8</c:f>
              <c:numCache>
                <c:formatCode>[$$]#,##0.00</c:formatCode>
                <c:ptCount val="5"/>
                <c:pt idx="0">
                  <c:v>3529228.8850000002</c:v>
                </c:pt>
                <c:pt idx="1">
                  <c:v>3781021.1100000008</c:v>
                </c:pt>
                <c:pt idx="2">
                  <c:v>3689658.8200000008</c:v>
                </c:pt>
                <c:pt idx="3">
                  <c:v>2907523.1100000003</c:v>
                </c:pt>
                <c:pt idx="4">
                  <c:v>2995540.6649999991</c:v>
                </c:pt>
              </c:numCache>
            </c:numRef>
          </c:val>
          <c:extLst>
            <c:ext xmlns:c16="http://schemas.microsoft.com/office/drawing/2014/chart" uri="{C3380CC4-5D6E-409C-BE32-E72D297353CC}">
              <c16:uniqueId val="{00000001-B0F8-466D-81F7-55320C004C97}"/>
            </c:ext>
          </c:extLst>
        </c:ser>
        <c:dLbls>
          <c:showLegendKey val="0"/>
          <c:showVal val="0"/>
          <c:showCatName val="0"/>
          <c:showSerName val="0"/>
          <c:showPercent val="0"/>
          <c:showBubbleSize val="0"/>
        </c:dLbls>
        <c:gapWidth val="219"/>
        <c:overlap val="-27"/>
        <c:axId val="1666176623"/>
        <c:axId val="1666178063"/>
      </c:barChart>
      <c:catAx>
        <c:axId val="166617662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66178063"/>
        <c:crosses val="autoZero"/>
        <c:auto val="1"/>
        <c:lblAlgn val="ctr"/>
        <c:lblOffset val="100"/>
        <c:noMultiLvlLbl val="0"/>
      </c:catAx>
      <c:valAx>
        <c:axId val="1666178063"/>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66176623"/>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[MOSES_MUIGA Cumulative Project Data.xlsx]PRODUCT ANALYSIS!PivotTable7</c:name>
    <c:fmtId val="10"/>
  </c:pivotSource>
  <c:chart>
    <c:autoTitleDeleted val="0"/>
    <c:pivotFmts>
      <c:pivotFmt>
        <c:idx val="0"/>
        <c:spPr>
          <a:solidFill>
            <a:schemeClr val="accent6">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tx2">
              <a:lumMod val="75000"/>
              <a:lumOff val="25000"/>
            </a:schemeClr>
          </a:solidFill>
          <a:ln>
            <a:solidFill>
              <a:schemeClr val="tx2">
                <a:lumMod val="75000"/>
                <a:lumOff val="25000"/>
              </a:schemeClr>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6">
              <a:lumMod val="60000"/>
              <a:lumOff val="40000"/>
            </a:schemeClr>
          </a:solidFill>
          <a:ln>
            <a:noFill/>
          </a:ln>
          <a:effectLst/>
        </c:spPr>
      </c:pivotFmt>
      <c:pivotFmt>
        <c:idx val="3"/>
        <c:spPr>
          <a:solidFill>
            <a:schemeClr val="accent6">
              <a:lumMod val="60000"/>
              <a:lumOff val="40000"/>
            </a:schemeClr>
          </a:solidFill>
          <a:ln>
            <a:noFill/>
          </a:ln>
          <a:effectLst/>
        </c:spPr>
      </c:pivotFmt>
      <c:pivotFmt>
        <c:idx val="4"/>
        <c:spPr>
          <a:solidFill>
            <a:schemeClr val="accent6">
              <a:lumMod val="60000"/>
              <a:lumOff val="40000"/>
            </a:schemeClr>
          </a:solidFill>
          <a:ln>
            <a:noFill/>
          </a:ln>
          <a:effectLst/>
        </c:spPr>
      </c:pivotFmt>
      <c:pivotFmt>
        <c:idx val="5"/>
        <c:spPr>
          <a:solidFill>
            <a:schemeClr val="accent6">
              <a:lumMod val="60000"/>
              <a:lumOff val="40000"/>
            </a:schemeClr>
          </a:solidFill>
          <a:ln>
            <a:noFill/>
          </a:ln>
          <a:effectLst/>
        </c:spPr>
      </c:pivotFmt>
      <c:pivotFmt>
        <c:idx val="6"/>
        <c:spPr>
          <a:solidFill>
            <a:schemeClr val="accent6">
              <a:lumMod val="60000"/>
              <a:lumOff val="40000"/>
            </a:schemeClr>
          </a:solidFill>
          <a:ln>
            <a:noFill/>
          </a:ln>
          <a:effectLst/>
        </c:spPr>
      </c:pivotFmt>
      <c:pivotFmt>
        <c:idx val="7"/>
        <c:spPr>
          <a:solidFill>
            <a:schemeClr val="accent6">
              <a:lumMod val="60000"/>
              <a:lumOff val="40000"/>
            </a:schemeClr>
          </a:solidFill>
          <a:ln>
            <a:noFill/>
          </a:ln>
          <a:effectLst/>
        </c:spPr>
      </c:pivotFmt>
      <c:pivotFmt>
        <c:idx val="8"/>
        <c:spPr>
          <a:solidFill>
            <a:schemeClr val="accent6">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tx2">
              <a:lumMod val="75000"/>
              <a:lumOff val="25000"/>
            </a:schemeClr>
          </a:solidFill>
          <a:ln>
            <a:solidFill>
              <a:schemeClr val="tx2">
                <a:lumMod val="75000"/>
                <a:lumOff val="25000"/>
              </a:schemeClr>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6">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tx2">
              <a:lumMod val="75000"/>
              <a:lumOff val="25000"/>
            </a:schemeClr>
          </a:solidFill>
          <a:ln>
            <a:solidFill>
              <a:schemeClr val="tx2">
                <a:lumMod val="75000"/>
                <a:lumOff val="25000"/>
              </a:schemeClr>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6">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tx2">
              <a:lumMod val="75000"/>
              <a:lumOff val="25000"/>
            </a:schemeClr>
          </a:solidFill>
          <a:ln>
            <a:solidFill>
              <a:schemeClr val="tx2">
                <a:lumMod val="75000"/>
                <a:lumOff val="25000"/>
              </a:schemeClr>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6">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tx2">
              <a:lumMod val="75000"/>
              <a:lumOff val="25000"/>
            </a:schemeClr>
          </a:solidFill>
          <a:ln>
            <a:solidFill>
              <a:schemeClr val="tx2">
                <a:lumMod val="75000"/>
                <a:lumOff val="25000"/>
              </a:schemeClr>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6703002265049691"/>
          <c:y val="4.0665068271800928E-2"/>
          <c:w val="0.64562833815193499"/>
          <c:h val="0.89239263610047148"/>
        </c:manualLayout>
      </c:layout>
      <c:barChart>
        <c:barDir val="col"/>
        <c:grouping val="clustered"/>
        <c:varyColors val="0"/>
        <c:ser>
          <c:idx val="0"/>
          <c:order val="0"/>
          <c:tx>
            <c:strRef>
              <c:f>'PRODUCT ANALYSIS'!$B$2</c:f>
              <c:strCache>
                <c:ptCount val="1"/>
                <c:pt idx="0">
                  <c:v>Sum of Sales</c:v>
                </c:pt>
              </c:strCache>
            </c:strRef>
          </c:tx>
          <c:spPr>
            <a:solidFill>
              <a:schemeClr val="accent5">
                <a:lumMod val="60000"/>
                <a:lumOff val="40000"/>
              </a:schemeClr>
            </a:solidFill>
            <a:ln>
              <a:noFill/>
            </a:ln>
            <a:effectLst/>
          </c:spPr>
          <c:invertIfNegative val="0"/>
          <c:cat>
            <c:strRef>
              <c:f>'PRODUCT ANALYSIS'!$A$3:$A$9</c:f>
              <c:strCache>
                <c:ptCount val="6"/>
                <c:pt idx="0">
                  <c:v>Amarilla</c:v>
                </c:pt>
                <c:pt idx="1">
                  <c:v>Carretera</c:v>
                </c:pt>
                <c:pt idx="2">
                  <c:v>Montana</c:v>
                </c:pt>
                <c:pt idx="3">
                  <c:v>Paseo</c:v>
                </c:pt>
                <c:pt idx="4">
                  <c:v>Velo</c:v>
                </c:pt>
                <c:pt idx="5">
                  <c:v>VTT</c:v>
                </c:pt>
              </c:strCache>
            </c:strRef>
          </c:cat>
          <c:val>
            <c:numRef>
              <c:f>'PRODUCT ANALYSIS'!$B$3:$B$9</c:f>
              <c:numCache>
                <c:formatCode>[$$]#,##0.00</c:formatCode>
                <c:ptCount val="6"/>
                <c:pt idx="0">
                  <c:v>17747116.059999999</c:v>
                </c:pt>
                <c:pt idx="1">
                  <c:v>13815307.885000004</c:v>
                </c:pt>
                <c:pt idx="2">
                  <c:v>15403161.879999995</c:v>
                </c:pt>
                <c:pt idx="3">
                  <c:v>33043814.280000009</c:v>
                </c:pt>
                <c:pt idx="4">
                  <c:v>18250059.465</c:v>
                </c:pt>
                <c:pt idx="5">
                  <c:v>20479251.02</c:v>
                </c:pt>
              </c:numCache>
            </c:numRef>
          </c:val>
          <c:extLst>
            <c:ext xmlns:c16="http://schemas.microsoft.com/office/drawing/2014/chart" uri="{C3380CC4-5D6E-409C-BE32-E72D297353CC}">
              <c16:uniqueId val="{00000000-66B2-4430-AB4A-D3231AE71323}"/>
            </c:ext>
          </c:extLst>
        </c:ser>
        <c:ser>
          <c:idx val="1"/>
          <c:order val="1"/>
          <c:tx>
            <c:strRef>
              <c:f>'PRODUCT ANALYSIS'!$C$2</c:f>
              <c:strCache>
                <c:ptCount val="1"/>
                <c:pt idx="0">
                  <c:v>Sum of Profit</c:v>
                </c:pt>
              </c:strCache>
            </c:strRef>
          </c:tx>
          <c:spPr>
            <a:solidFill>
              <a:schemeClr val="bg2">
                <a:lumMod val="75000"/>
              </a:schemeClr>
            </a:solidFill>
            <a:ln>
              <a:solidFill>
                <a:schemeClr val="tx2">
                  <a:lumMod val="75000"/>
                  <a:lumOff val="25000"/>
                </a:schemeClr>
              </a:solidFill>
            </a:ln>
            <a:effectLst/>
          </c:spPr>
          <c:invertIfNegative val="0"/>
          <c:cat>
            <c:strRef>
              <c:f>'PRODUCT ANALYSIS'!$A$3:$A$9</c:f>
              <c:strCache>
                <c:ptCount val="6"/>
                <c:pt idx="0">
                  <c:v>Amarilla</c:v>
                </c:pt>
                <c:pt idx="1">
                  <c:v>Carretera</c:v>
                </c:pt>
                <c:pt idx="2">
                  <c:v>Montana</c:v>
                </c:pt>
                <c:pt idx="3">
                  <c:v>Paseo</c:v>
                </c:pt>
                <c:pt idx="4">
                  <c:v>Velo</c:v>
                </c:pt>
                <c:pt idx="5">
                  <c:v>VTT</c:v>
                </c:pt>
              </c:strCache>
            </c:strRef>
          </c:cat>
          <c:val>
            <c:numRef>
              <c:f>'PRODUCT ANALYSIS'!$C$3:$C$9</c:f>
              <c:numCache>
                <c:formatCode>[$$]#,##0.00</c:formatCode>
                <c:ptCount val="6"/>
                <c:pt idx="0">
                  <c:v>2814104.06</c:v>
                </c:pt>
                <c:pt idx="1">
                  <c:v>1826804.8849999998</c:v>
                </c:pt>
                <c:pt idx="2">
                  <c:v>2124024.8800000004</c:v>
                </c:pt>
                <c:pt idx="3">
                  <c:v>4808328.2799999993</c:v>
                </c:pt>
                <c:pt idx="4">
                  <c:v>2305992.4649999999</c:v>
                </c:pt>
                <c:pt idx="5">
                  <c:v>3023718.0200000005</c:v>
                </c:pt>
              </c:numCache>
            </c:numRef>
          </c:val>
          <c:extLst>
            <c:ext xmlns:c16="http://schemas.microsoft.com/office/drawing/2014/chart" uri="{C3380CC4-5D6E-409C-BE32-E72D297353CC}">
              <c16:uniqueId val="{00000001-66B2-4430-AB4A-D3231AE71323}"/>
            </c:ext>
          </c:extLst>
        </c:ser>
        <c:dLbls>
          <c:showLegendKey val="0"/>
          <c:showVal val="0"/>
          <c:showCatName val="0"/>
          <c:showSerName val="0"/>
          <c:showPercent val="0"/>
          <c:showBubbleSize val="0"/>
        </c:dLbls>
        <c:gapWidth val="150"/>
        <c:axId val="1656593791"/>
        <c:axId val="1656593311"/>
      </c:barChart>
      <c:catAx>
        <c:axId val="165659379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56593311"/>
        <c:crosses val="autoZero"/>
        <c:auto val="1"/>
        <c:lblAlgn val="ctr"/>
        <c:lblOffset val="100"/>
        <c:noMultiLvlLbl val="0"/>
      </c:catAx>
      <c:valAx>
        <c:axId val="1656593311"/>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656593791"/>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[MOSES_MUIGA Cumulative Project Data.xlsx]COGS ANALYSIS !PivotTable8</c:name>
    <c:fmtId val="7"/>
  </c:pivotSource>
  <c:chart>
    <c:autoTitleDeleted val="0"/>
    <c:pivotFmts>
      <c:pivotFmt>
        <c:idx val="0"/>
        <c:spPr>
          <a:solidFill>
            <a:schemeClr val="tx2">
              <a:lumMod val="75000"/>
              <a:lumOff val="2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6">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tx2">
              <a:lumMod val="75000"/>
              <a:lumOff val="2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6">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tx2">
              <a:lumMod val="75000"/>
              <a:lumOff val="2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6">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tx2">
              <a:lumMod val="75000"/>
              <a:lumOff val="2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6">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tx2">
              <a:lumMod val="75000"/>
              <a:lumOff val="25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6">
              <a:lumMod val="60000"/>
              <a:lumOff val="40000"/>
            </a:schemeClr>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stacked"/>
        <c:varyColors val="0"/>
        <c:ser>
          <c:idx val="0"/>
          <c:order val="0"/>
          <c:tx>
            <c:strRef>
              <c:f>'COGS ANALYSIS '!$B$2</c:f>
              <c:strCache>
                <c:ptCount val="1"/>
                <c:pt idx="0">
                  <c:v>Sum of Profit</c:v>
                </c:pt>
              </c:strCache>
            </c:strRef>
          </c:tx>
          <c:spPr>
            <a:solidFill>
              <a:schemeClr val="bg2">
                <a:lumMod val="75000"/>
              </a:schemeClr>
            </a:solidFill>
            <a:ln>
              <a:noFill/>
            </a:ln>
            <a:effectLst/>
          </c:spPr>
          <c:invertIfNegative val="0"/>
          <c:cat>
            <c:strRef>
              <c:f>'COGS ANALYSIS '!$A$3:$A$9</c:f>
              <c:strCache>
                <c:ptCount val="6"/>
                <c:pt idx="0">
                  <c:v>Amarilla</c:v>
                </c:pt>
                <c:pt idx="1">
                  <c:v>Carretera</c:v>
                </c:pt>
                <c:pt idx="2">
                  <c:v>Montana</c:v>
                </c:pt>
                <c:pt idx="3">
                  <c:v>Paseo</c:v>
                </c:pt>
                <c:pt idx="4">
                  <c:v>Velo</c:v>
                </c:pt>
                <c:pt idx="5">
                  <c:v>VTT</c:v>
                </c:pt>
              </c:strCache>
            </c:strRef>
          </c:cat>
          <c:val>
            <c:numRef>
              <c:f>'COGS ANALYSIS '!$B$3:$B$9</c:f>
              <c:numCache>
                <c:formatCode>[$$]#,##0.00</c:formatCode>
                <c:ptCount val="6"/>
                <c:pt idx="0">
                  <c:v>2814104.06</c:v>
                </c:pt>
                <c:pt idx="1">
                  <c:v>1826804.8849999998</c:v>
                </c:pt>
                <c:pt idx="2">
                  <c:v>2124024.8800000004</c:v>
                </c:pt>
                <c:pt idx="3">
                  <c:v>4808328.2799999993</c:v>
                </c:pt>
                <c:pt idx="4">
                  <c:v>2305992.4649999999</c:v>
                </c:pt>
                <c:pt idx="5">
                  <c:v>3023718.0200000005</c:v>
                </c:pt>
              </c:numCache>
            </c:numRef>
          </c:val>
          <c:extLst>
            <c:ext xmlns:c16="http://schemas.microsoft.com/office/drawing/2014/chart" uri="{C3380CC4-5D6E-409C-BE32-E72D297353CC}">
              <c16:uniqueId val="{00000000-CF63-41AC-A86F-0D33A2F036CE}"/>
            </c:ext>
          </c:extLst>
        </c:ser>
        <c:ser>
          <c:idx val="1"/>
          <c:order val="1"/>
          <c:tx>
            <c:strRef>
              <c:f>'COGS ANALYSIS '!$C$2</c:f>
              <c:strCache>
                <c:ptCount val="1"/>
                <c:pt idx="0">
                  <c:v>Sum of COGS</c:v>
                </c:pt>
              </c:strCache>
            </c:strRef>
          </c:tx>
          <c:spPr>
            <a:solidFill>
              <a:schemeClr val="accent5">
                <a:lumMod val="60000"/>
                <a:lumOff val="40000"/>
              </a:schemeClr>
            </a:solidFill>
            <a:ln>
              <a:noFill/>
            </a:ln>
            <a:effectLst/>
          </c:spPr>
          <c:invertIfNegative val="0"/>
          <c:cat>
            <c:strRef>
              <c:f>'COGS ANALYSIS '!$A$3:$A$9</c:f>
              <c:strCache>
                <c:ptCount val="6"/>
                <c:pt idx="0">
                  <c:v>Amarilla</c:v>
                </c:pt>
                <c:pt idx="1">
                  <c:v>Carretera</c:v>
                </c:pt>
                <c:pt idx="2">
                  <c:v>Montana</c:v>
                </c:pt>
                <c:pt idx="3">
                  <c:v>Paseo</c:v>
                </c:pt>
                <c:pt idx="4">
                  <c:v>Velo</c:v>
                </c:pt>
                <c:pt idx="5">
                  <c:v>VTT</c:v>
                </c:pt>
              </c:strCache>
            </c:strRef>
          </c:cat>
          <c:val>
            <c:numRef>
              <c:f>'COGS ANALYSIS '!$C$3:$C$9</c:f>
              <c:numCache>
                <c:formatCode>[$$]#,##0.00</c:formatCode>
                <c:ptCount val="6"/>
                <c:pt idx="0">
                  <c:v>14933012</c:v>
                </c:pt>
                <c:pt idx="1">
                  <c:v>11988503</c:v>
                </c:pt>
                <c:pt idx="2">
                  <c:v>13279137</c:v>
                </c:pt>
                <c:pt idx="3">
                  <c:v>28235486</c:v>
                </c:pt>
                <c:pt idx="4">
                  <c:v>15944067</c:v>
                </c:pt>
                <c:pt idx="5">
                  <c:v>17455533</c:v>
                </c:pt>
              </c:numCache>
            </c:numRef>
          </c:val>
          <c:extLst>
            <c:ext xmlns:c16="http://schemas.microsoft.com/office/drawing/2014/chart" uri="{C3380CC4-5D6E-409C-BE32-E72D297353CC}">
              <c16:uniqueId val="{00000001-CF63-41AC-A86F-0D33A2F036CE}"/>
            </c:ext>
          </c:extLst>
        </c:ser>
        <c:dLbls>
          <c:showLegendKey val="0"/>
          <c:showVal val="0"/>
          <c:showCatName val="0"/>
          <c:showSerName val="0"/>
          <c:showPercent val="0"/>
          <c:showBubbleSize val="0"/>
        </c:dLbls>
        <c:gapWidth val="150"/>
        <c:overlap val="100"/>
        <c:axId val="923313279"/>
        <c:axId val="923313759"/>
      </c:barChart>
      <c:catAx>
        <c:axId val="92331327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23313759"/>
        <c:crosses val="autoZero"/>
        <c:auto val="1"/>
        <c:lblAlgn val="ctr"/>
        <c:lblOffset val="100"/>
        <c:noMultiLvlLbl val="0"/>
      </c:catAx>
      <c:valAx>
        <c:axId val="923313759"/>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23313279"/>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9956364039068811E-2"/>
          <c:y val="1.4679187132896327E-2"/>
          <c:w val="0.89279702812816275"/>
          <c:h val="0.97064162573420731"/>
        </c:manualLayout>
      </c:layout>
      <c:scatterChart>
        <c:scatterStyle val="lineMarker"/>
        <c:varyColors val="0"/>
        <c:ser>
          <c:idx val="0"/>
          <c:order val="0"/>
          <c:spPr>
            <a:ln w="25400" cap="rnd">
              <a:solidFill>
                <a:schemeClr val="bg2"/>
              </a:solidFill>
              <a:round/>
            </a:ln>
            <a:effectLst/>
          </c:spPr>
          <c:marker>
            <c:symbol val="circle"/>
            <c:size val="5"/>
            <c:spPr>
              <a:solidFill>
                <a:schemeClr val="accent5">
                  <a:lumMod val="60000"/>
                  <a:lumOff val="40000"/>
                </a:schemeClr>
              </a:solidFill>
              <a:ln w="9525">
                <a:solidFill>
                  <a:schemeClr val="bg2"/>
                </a:solidFill>
              </a:ln>
              <a:effectLst/>
            </c:spPr>
          </c:marker>
          <c:yVal>
            <c:numRef>
              <c:f>'DISCOUNT%  VS PROFIT MARGIN'!$D$3:$D$244</c:f>
              <c:numCache>
                <c:formatCode>0%</c:formatCode>
                <c:ptCount val="242"/>
                <c:pt idx="0">
                  <c:v>0</c:v>
                </c:pt>
                <c:pt idx="1">
                  <c:v>0.04</c:v>
                </c:pt>
                <c:pt idx="2">
                  <c:v>0.16666666666666666</c:v>
                </c:pt>
                <c:pt idx="3">
                  <c:v>0.25714285714285712</c:v>
                </c:pt>
                <c:pt idx="4">
                  <c:v>0.2857142857142857</c:v>
                </c:pt>
                <c:pt idx="5">
                  <c:v>0.29285714285714287</c:v>
                </c:pt>
                <c:pt idx="6">
                  <c:v>0.33333333333333331</c:v>
                </c:pt>
                <c:pt idx="7">
                  <c:v>0.5</c:v>
                </c:pt>
                <c:pt idx="8">
                  <c:v>0.75</c:v>
                </c:pt>
                <c:pt idx="9">
                  <c:v>9.9999999999999985E-3</c:v>
                </c:pt>
                <c:pt idx="10">
                  <c:v>0.27849927849927847</c:v>
                </c:pt>
                <c:pt idx="11">
                  <c:v>0.27849927849927852</c:v>
                </c:pt>
                <c:pt idx="12">
                  <c:v>0.27849927849927858</c:v>
                </c:pt>
                <c:pt idx="13">
                  <c:v>0.32659932659932656</c:v>
                </c:pt>
                <c:pt idx="14">
                  <c:v>0.01</c:v>
                </c:pt>
                <c:pt idx="15">
                  <c:v>3.0303030303030304E-2</c:v>
                </c:pt>
                <c:pt idx="16">
                  <c:v>0.15824915824915825</c:v>
                </c:pt>
                <c:pt idx="17">
                  <c:v>0.24963924963924963</c:v>
                </c:pt>
                <c:pt idx="18">
                  <c:v>0.27849927849927847</c:v>
                </c:pt>
                <c:pt idx="19">
                  <c:v>0.27849927849927852</c:v>
                </c:pt>
                <c:pt idx="20">
                  <c:v>0.32659932659932661</c:v>
                </c:pt>
                <c:pt idx="21">
                  <c:v>0.32659932659932667</c:v>
                </c:pt>
                <c:pt idx="22">
                  <c:v>0.49494949494949492</c:v>
                </c:pt>
                <c:pt idx="23">
                  <c:v>0.49494949494949503</c:v>
                </c:pt>
                <c:pt idx="24">
                  <c:v>0.7474747474747474</c:v>
                </c:pt>
                <c:pt idx="25">
                  <c:v>0.74747474747474751</c:v>
                </c:pt>
                <c:pt idx="26">
                  <c:v>0.02</c:v>
                </c:pt>
                <c:pt idx="27">
                  <c:v>2.0408163265306121E-2</c:v>
                </c:pt>
                <c:pt idx="28">
                  <c:v>0.14965986394557823</c:v>
                </c:pt>
                <c:pt idx="29">
                  <c:v>0.24198250728862974</c:v>
                </c:pt>
                <c:pt idx="30">
                  <c:v>0.27113702623906705</c:v>
                </c:pt>
                <c:pt idx="31">
                  <c:v>0.2711370262390671</c:v>
                </c:pt>
                <c:pt idx="32">
                  <c:v>0.31972789115646255</c:v>
                </c:pt>
                <c:pt idx="33">
                  <c:v>0.31972789115646261</c:v>
                </c:pt>
                <c:pt idx="34">
                  <c:v>0.48979591836734687</c:v>
                </c:pt>
                <c:pt idx="35">
                  <c:v>0.48979591836734693</c:v>
                </c:pt>
                <c:pt idx="36">
                  <c:v>0.74489795918367341</c:v>
                </c:pt>
                <c:pt idx="37">
                  <c:v>0.74489795918367352</c:v>
                </c:pt>
                <c:pt idx="38">
                  <c:v>0.03</c:v>
                </c:pt>
                <c:pt idx="39">
                  <c:v>1.0309278350515464E-2</c:v>
                </c:pt>
                <c:pt idx="40">
                  <c:v>0.14089347079037801</c:v>
                </c:pt>
                <c:pt idx="41">
                  <c:v>0.2341678939617084</c:v>
                </c:pt>
                <c:pt idx="42">
                  <c:v>0.26362297496318116</c:v>
                </c:pt>
                <c:pt idx="43">
                  <c:v>0.26362297496318121</c:v>
                </c:pt>
                <c:pt idx="44">
                  <c:v>0.3127147766323024</c:v>
                </c:pt>
                <c:pt idx="45">
                  <c:v>0.4845360824742268</c:v>
                </c:pt>
                <c:pt idx="46">
                  <c:v>0.74226804123711343</c:v>
                </c:pt>
                <c:pt idx="47">
                  <c:v>3.0000000000000002E-2</c:v>
                </c:pt>
                <c:pt idx="48">
                  <c:v>0.2636229749631811</c:v>
                </c:pt>
                <c:pt idx="49">
                  <c:v>0.4845360824742268</c:v>
                </c:pt>
                <c:pt idx="50">
                  <c:v>0.48453608247422686</c:v>
                </c:pt>
                <c:pt idx="51">
                  <c:v>0.74226804123711343</c:v>
                </c:pt>
                <c:pt idx="52">
                  <c:v>3.9999999999999994E-2</c:v>
                </c:pt>
                <c:pt idx="53">
                  <c:v>0.30555555555555558</c:v>
                </c:pt>
                <c:pt idx="54">
                  <c:v>0.47916666666666669</c:v>
                </c:pt>
                <c:pt idx="55">
                  <c:v>0.04</c:v>
                </c:pt>
                <c:pt idx="56">
                  <c:v>0</c:v>
                </c:pt>
                <c:pt idx="57">
                  <c:v>0.13194444444444445</c:v>
                </c:pt>
                <c:pt idx="58">
                  <c:v>0.22619047619047619</c:v>
                </c:pt>
                <c:pt idx="59">
                  <c:v>0.25595238095238099</c:v>
                </c:pt>
                <c:pt idx="60">
                  <c:v>0.30555555555555552</c:v>
                </c:pt>
                <c:pt idx="61">
                  <c:v>0.47916666666666663</c:v>
                </c:pt>
                <c:pt idx="62">
                  <c:v>0.47916666666666669</c:v>
                </c:pt>
                <c:pt idx="63">
                  <c:v>0.73958333333333337</c:v>
                </c:pt>
                <c:pt idx="64">
                  <c:v>4.9999999999999996E-2</c:v>
                </c:pt>
                <c:pt idx="65">
                  <c:v>0.24812030075187963</c:v>
                </c:pt>
                <c:pt idx="66">
                  <c:v>0.24812030075187971</c:v>
                </c:pt>
                <c:pt idx="67">
                  <c:v>0.24812030075187974</c:v>
                </c:pt>
                <c:pt idx="68">
                  <c:v>0.73684210526315785</c:v>
                </c:pt>
                <c:pt idx="69">
                  <c:v>0.73684210526315796</c:v>
                </c:pt>
                <c:pt idx="70">
                  <c:v>0.05</c:v>
                </c:pt>
                <c:pt idx="71">
                  <c:v>-1.0526315789473684E-2</c:v>
                </c:pt>
                <c:pt idx="72">
                  <c:v>0.12280701754385964</c:v>
                </c:pt>
                <c:pt idx="73">
                  <c:v>0.21804511278195488</c:v>
                </c:pt>
                <c:pt idx="74">
                  <c:v>0.24812030075187966</c:v>
                </c:pt>
                <c:pt idx="75">
                  <c:v>0.24812030075187969</c:v>
                </c:pt>
                <c:pt idx="76">
                  <c:v>0.2982456140350877</c:v>
                </c:pt>
                <c:pt idx="77">
                  <c:v>0.47368421052631576</c:v>
                </c:pt>
                <c:pt idx="78">
                  <c:v>0.73684210526315785</c:v>
                </c:pt>
                <c:pt idx="79">
                  <c:v>5.9999999999999991E-2</c:v>
                </c:pt>
                <c:pt idx="80">
                  <c:v>0.29078014184397172</c:v>
                </c:pt>
                <c:pt idx="81">
                  <c:v>0.06</c:v>
                </c:pt>
                <c:pt idx="82">
                  <c:v>-2.1276595744680851E-2</c:v>
                </c:pt>
                <c:pt idx="83">
                  <c:v>0.11347517730496454</c:v>
                </c:pt>
                <c:pt idx="84">
                  <c:v>0.20972644376899696</c:v>
                </c:pt>
                <c:pt idx="85">
                  <c:v>0.24012158054711244</c:v>
                </c:pt>
                <c:pt idx="86">
                  <c:v>0.24012158054711247</c:v>
                </c:pt>
                <c:pt idx="87">
                  <c:v>0.29078014184397161</c:v>
                </c:pt>
                <c:pt idx="88">
                  <c:v>0.29078014184397166</c:v>
                </c:pt>
                <c:pt idx="89">
                  <c:v>0.46808510638297873</c:v>
                </c:pt>
                <c:pt idx="90">
                  <c:v>0.73404255319148937</c:v>
                </c:pt>
                <c:pt idx="91">
                  <c:v>6.0000000000000005E-2</c:v>
                </c:pt>
                <c:pt idx="92">
                  <c:v>0.24012158054711241</c:v>
                </c:pt>
                <c:pt idx="93">
                  <c:v>0.29078014184397161</c:v>
                </c:pt>
                <c:pt idx="94">
                  <c:v>0.46808510638297868</c:v>
                </c:pt>
                <c:pt idx="95">
                  <c:v>6.9999999999999993E-2</c:v>
                </c:pt>
                <c:pt idx="96">
                  <c:v>0.23195084485407064</c:v>
                </c:pt>
                <c:pt idx="97">
                  <c:v>0.23195084485407069</c:v>
                </c:pt>
                <c:pt idx="98">
                  <c:v>0.23195084485407072</c:v>
                </c:pt>
                <c:pt idx="99">
                  <c:v>0.28315412186379935</c:v>
                </c:pt>
                <c:pt idx="100">
                  <c:v>0.4623655913978495</c:v>
                </c:pt>
                <c:pt idx="101">
                  <c:v>0.73118279569892475</c:v>
                </c:pt>
                <c:pt idx="102">
                  <c:v>7.0000000000000007E-2</c:v>
                </c:pt>
                <c:pt idx="103">
                  <c:v>-3.2258064516129031E-2</c:v>
                </c:pt>
                <c:pt idx="104">
                  <c:v>0.1039426523297491</c:v>
                </c:pt>
                <c:pt idx="105">
                  <c:v>0.20122887864823349</c:v>
                </c:pt>
                <c:pt idx="106">
                  <c:v>0.23195084485407066</c:v>
                </c:pt>
                <c:pt idx="107">
                  <c:v>0.28315412186379924</c:v>
                </c:pt>
                <c:pt idx="108">
                  <c:v>0.28315412186379929</c:v>
                </c:pt>
                <c:pt idx="109">
                  <c:v>0.46236559139784944</c:v>
                </c:pt>
                <c:pt idx="110">
                  <c:v>0.73118279569892475</c:v>
                </c:pt>
                <c:pt idx="111">
                  <c:v>7.9999999999999988E-2</c:v>
                </c:pt>
                <c:pt idx="112">
                  <c:v>0.22360248447204967</c:v>
                </c:pt>
                <c:pt idx="113">
                  <c:v>0.22360248447204975</c:v>
                </c:pt>
                <c:pt idx="114">
                  <c:v>0.45652173913043476</c:v>
                </c:pt>
                <c:pt idx="115">
                  <c:v>0.08</c:v>
                </c:pt>
                <c:pt idx="116">
                  <c:v>-4.3478260869565216E-2</c:v>
                </c:pt>
                <c:pt idx="117">
                  <c:v>9.420289855072464E-2</c:v>
                </c:pt>
                <c:pt idx="118">
                  <c:v>0.19254658385093168</c:v>
                </c:pt>
                <c:pt idx="119">
                  <c:v>0.22360248447204964</c:v>
                </c:pt>
                <c:pt idx="120">
                  <c:v>0.22360248447204967</c:v>
                </c:pt>
                <c:pt idx="121">
                  <c:v>0.2236024844720497</c:v>
                </c:pt>
                <c:pt idx="122">
                  <c:v>0.22360248447204972</c:v>
                </c:pt>
                <c:pt idx="123">
                  <c:v>0.22360248447204975</c:v>
                </c:pt>
                <c:pt idx="124">
                  <c:v>0.27536231884057966</c:v>
                </c:pt>
                <c:pt idx="125">
                  <c:v>0.27536231884057971</c:v>
                </c:pt>
                <c:pt idx="126">
                  <c:v>0.27536231884057977</c:v>
                </c:pt>
                <c:pt idx="127">
                  <c:v>0.45652173913043476</c:v>
                </c:pt>
                <c:pt idx="128">
                  <c:v>0.45652173913043481</c:v>
                </c:pt>
                <c:pt idx="129">
                  <c:v>0.72826086956521741</c:v>
                </c:pt>
                <c:pt idx="130">
                  <c:v>8.0000000000000016E-2</c:v>
                </c:pt>
                <c:pt idx="131">
                  <c:v>0.45652173913043476</c:v>
                </c:pt>
                <c:pt idx="132">
                  <c:v>0.09</c:v>
                </c:pt>
                <c:pt idx="133">
                  <c:v>-5.4945054945054944E-2</c:v>
                </c:pt>
                <c:pt idx="134">
                  <c:v>8.4249084249084255E-2</c:v>
                </c:pt>
                <c:pt idx="135">
                  <c:v>0.18367346938775511</c:v>
                </c:pt>
                <c:pt idx="136">
                  <c:v>0.21507064364207218</c:v>
                </c:pt>
                <c:pt idx="137">
                  <c:v>0.26739926739926739</c:v>
                </c:pt>
                <c:pt idx="138">
                  <c:v>0.45054945054945056</c:v>
                </c:pt>
                <c:pt idx="139">
                  <c:v>0.72527472527472525</c:v>
                </c:pt>
                <c:pt idx="140">
                  <c:v>9.0000000000000011E-2</c:v>
                </c:pt>
                <c:pt idx="141">
                  <c:v>0.21507064364207215</c:v>
                </c:pt>
                <c:pt idx="142">
                  <c:v>0.21507064364207218</c:v>
                </c:pt>
                <c:pt idx="143">
                  <c:v>0.21507064364207221</c:v>
                </c:pt>
                <c:pt idx="144">
                  <c:v>0.26739926739926728</c:v>
                </c:pt>
                <c:pt idx="145">
                  <c:v>0.26739926739926734</c:v>
                </c:pt>
                <c:pt idx="146">
                  <c:v>0.4505494505494505</c:v>
                </c:pt>
                <c:pt idx="147">
                  <c:v>0.45054945054945056</c:v>
                </c:pt>
                <c:pt idx="148">
                  <c:v>0.72527472527472525</c:v>
                </c:pt>
                <c:pt idx="149">
                  <c:v>9.9999999999999992E-2</c:v>
                </c:pt>
                <c:pt idx="150">
                  <c:v>0.20634920634920634</c:v>
                </c:pt>
                <c:pt idx="151">
                  <c:v>0.72222222222222221</c:v>
                </c:pt>
                <c:pt idx="152">
                  <c:v>0.1</c:v>
                </c:pt>
                <c:pt idx="153">
                  <c:v>-6.6666666666666666E-2</c:v>
                </c:pt>
                <c:pt idx="154">
                  <c:v>7.407407407407407E-2</c:v>
                </c:pt>
                <c:pt idx="155">
                  <c:v>0.17460317460317459</c:v>
                </c:pt>
                <c:pt idx="156">
                  <c:v>0.20634920634920634</c:v>
                </c:pt>
                <c:pt idx="157">
                  <c:v>0.25925925925925924</c:v>
                </c:pt>
                <c:pt idx="158">
                  <c:v>0.44444444444444442</c:v>
                </c:pt>
                <c:pt idx="159">
                  <c:v>0.72222222222222221</c:v>
                </c:pt>
                <c:pt idx="160">
                  <c:v>0.10999999999999999</c:v>
                </c:pt>
                <c:pt idx="161">
                  <c:v>0.19743178170144463</c:v>
                </c:pt>
                <c:pt idx="162">
                  <c:v>0.19743178170144465</c:v>
                </c:pt>
                <c:pt idx="163">
                  <c:v>0.25093632958801493</c:v>
                </c:pt>
                <c:pt idx="164">
                  <c:v>0.7191011235955056</c:v>
                </c:pt>
                <c:pt idx="165">
                  <c:v>0.11</c:v>
                </c:pt>
                <c:pt idx="166">
                  <c:v>-7.8651685393258425E-2</c:v>
                </c:pt>
                <c:pt idx="167">
                  <c:v>6.3670411985018729E-2</c:v>
                </c:pt>
                <c:pt idx="168">
                  <c:v>0.1653290529695024</c:v>
                </c:pt>
                <c:pt idx="169">
                  <c:v>0.19743178170144463</c:v>
                </c:pt>
                <c:pt idx="170">
                  <c:v>0.19743178170144468</c:v>
                </c:pt>
                <c:pt idx="171">
                  <c:v>0.25093632958801498</c:v>
                </c:pt>
                <c:pt idx="172">
                  <c:v>0.25093632958801504</c:v>
                </c:pt>
                <c:pt idx="173">
                  <c:v>0.4382022471910112</c:v>
                </c:pt>
                <c:pt idx="174">
                  <c:v>0.43820224719101125</c:v>
                </c:pt>
                <c:pt idx="175">
                  <c:v>0.7191011235955056</c:v>
                </c:pt>
                <c:pt idx="176">
                  <c:v>0.71910112359550571</c:v>
                </c:pt>
                <c:pt idx="177">
                  <c:v>0.11000000000000001</c:v>
                </c:pt>
                <c:pt idx="178">
                  <c:v>0.19743178170144465</c:v>
                </c:pt>
                <c:pt idx="179">
                  <c:v>0.12</c:v>
                </c:pt>
                <c:pt idx="180">
                  <c:v>-9.0909090909090912E-2</c:v>
                </c:pt>
                <c:pt idx="181">
                  <c:v>5.3030303030303032E-2</c:v>
                </c:pt>
                <c:pt idx="182">
                  <c:v>0.15584415584415584</c:v>
                </c:pt>
                <c:pt idx="183">
                  <c:v>0.18831168831168824</c:v>
                </c:pt>
                <c:pt idx="184">
                  <c:v>0.18831168831168826</c:v>
                </c:pt>
                <c:pt idx="185">
                  <c:v>0.18831168831168835</c:v>
                </c:pt>
                <c:pt idx="186">
                  <c:v>0.24242424242424235</c:v>
                </c:pt>
                <c:pt idx="187">
                  <c:v>0.2424242424242424</c:v>
                </c:pt>
                <c:pt idx="188">
                  <c:v>0.24242424242424243</c:v>
                </c:pt>
                <c:pt idx="189">
                  <c:v>0.24242424242424249</c:v>
                </c:pt>
                <c:pt idx="190">
                  <c:v>0.43181818181818182</c:v>
                </c:pt>
                <c:pt idx="191">
                  <c:v>0.71590909090909094</c:v>
                </c:pt>
                <c:pt idx="192">
                  <c:v>0.12000000000000001</c:v>
                </c:pt>
                <c:pt idx="193">
                  <c:v>0.18831168831168826</c:v>
                </c:pt>
                <c:pt idx="194">
                  <c:v>0.43181818181818177</c:v>
                </c:pt>
                <c:pt idx="195">
                  <c:v>0.71590909090909094</c:v>
                </c:pt>
                <c:pt idx="196">
                  <c:v>0.12999999999999998</c:v>
                </c:pt>
                <c:pt idx="197">
                  <c:v>0.23371647509578541</c:v>
                </c:pt>
                <c:pt idx="198">
                  <c:v>0.13</c:v>
                </c:pt>
                <c:pt idx="199">
                  <c:v>-0.10344827586206896</c:v>
                </c:pt>
                <c:pt idx="200">
                  <c:v>4.2145593869731802E-2</c:v>
                </c:pt>
                <c:pt idx="201">
                  <c:v>0.14614121510673234</c:v>
                </c:pt>
                <c:pt idx="202">
                  <c:v>0.17898193760262723</c:v>
                </c:pt>
                <c:pt idx="203">
                  <c:v>0.17898193760262726</c:v>
                </c:pt>
                <c:pt idx="204">
                  <c:v>0.17898193760262729</c:v>
                </c:pt>
                <c:pt idx="205">
                  <c:v>0.23371647509578544</c:v>
                </c:pt>
                <c:pt idx="206">
                  <c:v>0.42528735632183906</c:v>
                </c:pt>
                <c:pt idx="207">
                  <c:v>0.42528735632183912</c:v>
                </c:pt>
                <c:pt idx="208">
                  <c:v>0.71264367816091956</c:v>
                </c:pt>
                <c:pt idx="209">
                  <c:v>0.13999999999999999</c:v>
                </c:pt>
                <c:pt idx="210">
                  <c:v>0.16943521594684377</c:v>
                </c:pt>
                <c:pt idx="211">
                  <c:v>0.1694352159468438</c:v>
                </c:pt>
                <c:pt idx="212">
                  <c:v>0.16943521594684391</c:v>
                </c:pt>
                <c:pt idx="213">
                  <c:v>0.22480620155038755</c:v>
                </c:pt>
                <c:pt idx="214">
                  <c:v>0.22480620155038758</c:v>
                </c:pt>
                <c:pt idx="215">
                  <c:v>0.41860465116279066</c:v>
                </c:pt>
                <c:pt idx="216">
                  <c:v>0.41860465116279072</c:v>
                </c:pt>
                <c:pt idx="217">
                  <c:v>0.70930232558139539</c:v>
                </c:pt>
                <c:pt idx="218">
                  <c:v>0.14000000000000001</c:v>
                </c:pt>
                <c:pt idx="219">
                  <c:v>-0.11627906976744186</c:v>
                </c:pt>
                <c:pt idx="220">
                  <c:v>3.1007751937984496E-2</c:v>
                </c:pt>
                <c:pt idx="221">
                  <c:v>0.13621262458471761</c:v>
                </c:pt>
                <c:pt idx="222">
                  <c:v>0.16943521594684377</c:v>
                </c:pt>
                <c:pt idx="223">
                  <c:v>0.16943521594684391</c:v>
                </c:pt>
                <c:pt idx="224">
                  <c:v>0.16943521594684394</c:v>
                </c:pt>
                <c:pt idx="225">
                  <c:v>0.22480620155038761</c:v>
                </c:pt>
                <c:pt idx="226">
                  <c:v>0.22480620155038764</c:v>
                </c:pt>
                <c:pt idx="227">
                  <c:v>0.41860465116279072</c:v>
                </c:pt>
                <c:pt idx="228">
                  <c:v>0.70930232558139539</c:v>
                </c:pt>
                <c:pt idx="229">
                  <c:v>0.15</c:v>
                </c:pt>
                <c:pt idx="230">
                  <c:v>-0.12941176470588237</c:v>
                </c:pt>
                <c:pt idx="231">
                  <c:v>1.9607843137254902E-2</c:v>
                </c:pt>
                <c:pt idx="232">
                  <c:v>0.12605042016806722</c:v>
                </c:pt>
                <c:pt idx="233">
                  <c:v>0.15966386554621848</c:v>
                </c:pt>
                <c:pt idx="234">
                  <c:v>0.21568627450980393</c:v>
                </c:pt>
                <c:pt idx="235">
                  <c:v>0.41176470588235292</c:v>
                </c:pt>
                <c:pt idx="236">
                  <c:v>0.70588235294117641</c:v>
                </c:pt>
                <c:pt idx="237">
                  <c:v>0.70588235294117652</c:v>
                </c:pt>
                <c:pt idx="238">
                  <c:v>0.15000000000000002</c:v>
                </c:pt>
                <c:pt idx="239">
                  <c:v>0.15966386554621853</c:v>
                </c:pt>
                <c:pt idx="240">
                  <c:v>0.15966386554621856</c:v>
                </c:pt>
                <c:pt idx="241">
                  <c:v>0.70588235294117652</c:v>
                </c:pt>
              </c:numCache>
            </c:numRef>
          </c:yVal>
          <c:smooth val="0"/>
          <c:extLst>
            <c:ext xmlns:c16="http://schemas.microsoft.com/office/drawing/2014/chart" uri="{C3380CC4-5D6E-409C-BE32-E72D297353CC}">
              <c16:uniqueId val="{00000000-6B6F-47ED-A499-087C44B9AFF0}"/>
            </c:ext>
          </c:extLst>
        </c:ser>
        <c:dLbls>
          <c:showLegendKey val="0"/>
          <c:showVal val="0"/>
          <c:showCatName val="0"/>
          <c:showSerName val="0"/>
          <c:showPercent val="0"/>
          <c:showBubbleSize val="0"/>
        </c:dLbls>
        <c:axId val="1385224751"/>
        <c:axId val="1385217551"/>
      </c:scatterChart>
      <c:valAx>
        <c:axId val="1385224751"/>
        <c:scaling>
          <c:orientation val="minMax"/>
        </c:scaling>
        <c:delete val="0"/>
        <c:axPos val="b"/>
        <c:majorGridlines>
          <c:spPr>
            <a:ln w="9525" cap="flat" cmpd="sng" algn="ctr">
              <a:solidFill>
                <a:schemeClr val="tx1">
                  <a:lumMod val="15000"/>
                  <a:lumOff val="85000"/>
                </a:schemeClr>
              </a:solidFill>
              <a:round/>
            </a:ln>
            <a:effectLst/>
          </c:spPr>
        </c:majorGridlines>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85217551"/>
        <c:crosses val="autoZero"/>
        <c:crossBetween val="midCat"/>
      </c:valAx>
      <c:valAx>
        <c:axId val="1385217551"/>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85224751"/>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pivotSource>
    <c:name>[MOSES_MUIGA Cumulative Project Data.xlsx]CONTRIBUTION ANALYSIS!PivotTable14</c:name>
    <c:fmtId val="13"/>
  </c:pivotSource>
  <c:chart>
    <c:autoTitleDeleted val="1"/>
    <c:pivotFmts>
      <c:pivotFmt>
        <c:idx val="0"/>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5"/>
          </a:solidFill>
          <a:ln w="19050">
            <a:solidFill>
              <a:schemeClr val="lt1"/>
            </a:solidFill>
          </a:ln>
          <a:effectLst/>
        </c:spPr>
      </c:pivotFmt>
      <c:pivotFmt>
        <c:idx val="2"/>
        <c:spPr>
          <a:solidFill>
            <a:schemeClr val="accent5"/>
          </a:solidFill>
          <a:ln w="19050">
            <a:solidFill>
              <a:schemeClr val="lt1"/>
            </a:solidFill>
          </a:ln>
          <a:effectLst/>
        </c:spPr>
      </c:pivotFmt>
      <c:pivotFmt>
        <c:idx val="3"/>
        <c:spPr>
          <a:solidFill>
            <a:schemeClr val="accent5"/>
          </a:solidFill>
          <a:ln w="19050">
            <a:solidFill>
              <a:schemeClr val="lt1"/>
            </a:solidFill>
          </a:ln>
          <a:effectLst/>
        </c:spPr>
      </c:pivotFmt>
      <c:pivotFmt>
        <c:idx val="4"/>
        <c:spPr>
          <a:solidFill>
            <a:schemeClr val="accent5"/>
          </a:solidFill>
          <a:ln w="19050">
            <a:solidFill>
              <a:schemeClr val="lt1"/>
            </a:solidFill>
          </a:ln>
          <a:effectLst/>
        </c:spPr>
      </c:pivotFmt>
      <c:pivotFmt>
        <c:idx val="5"/>
        <c:spPr>
          <a:solidFill>
            <a:schemeClr val="accent5"/>
          </a:solidFill>
          <a:ln w="19050">
            <a:solidFill>
              <a:schemeClr val="lt1"/>
            </a:solidFill>
          </a:ln>
          <a:effectLst/>
        </c:spPr>
      </c:pivotFmt>
      <c:pivotFmt>
        <c:idx val="6"/>
        <c:spPr>
          <a:solidFill>
            <a:schemeClr val="accent5"/>
          </a:solidFill>
          <a:ln w="19050">
            <a:solidFill>
              <a:schemeClr val="lt1"/>
            </a:solidFill>
          </a:ln>
          <a:effectLst/>
        </c:spPr>
      </c:pivotFmt>
      <c:pivotFmt>
        <c:idx val="7"/>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5"/>
          </a:solidFill>
          <a:ln w="19050">
            <a:solidFill>
              <a:schemeClr val="lt1"/>
            </a:solidFill>
          </a:ln>
          <a:effectLst/>
        </c:spPr>
      </c:pivotFmt>
      <c:pivotFmt>
        <c:idx val="9"/>
        <c:spPr>
          <a:solidFill>
            <a:schemeClr val="accent5"/>
          </a:solidFill>
          <a:ln w="19050">
            <a:solidFill>
              <a:schemeClr val="lt1"/>
            </a:solidFill>
          </a:ln>
          <a:effectLst/>
        </c:spPr>
      </c:pivotFmt>
      <c:pivotFmt>
        <c:idx val="10"/>
        <c:spPr>
          <a:solidFill>
            <a:schemeClr val="accent5"/>
          </a:solidFill>
          <a:ln w="19050">
            <a:solidFill>
              <a:schemeClr val="lt1"/>
            </a:solidFill>
          </a:ln>
          <a:effectLst/>
        </c:spPr>
      </c:pivotFmt>
      <c:pivotFmt>
        <c:idx val="11"/>
        <c:spPr>
          <a:solidFill>
            <a:schemeClr val="accent5"/>
          </a:solidFill>
          <a:ln w="19050">
            <a:solidFill>
              <a:schemeClr val="lt1"/>
            </a:solidFill>
          </a:ln>
          <a:effectLst/>
        </c:spPr>
      </c:pivotFmt>
      <c:pivotFmt>
        <c:idx val="12"/>
        <c:spPr>
          <a:solidFill>
            <a:schemeClr val="accent5"/>
          </a:solidFill>
          <a:ln w="19050">
            <a:solidFill>
              <a:schemeClr val="lt1"/>
            </a:solidFill>
          </a:ln>
          <a:effectLst/>
        </c:spPr>
      </c:pivotFmt>
      <c:pivotFmt>
        <c:idx val="13"/>
        <c:spPr>
          <a:solidFill>
            <a:schemeClr val="accent5"/>
          </a:solidFill>
          <a:ln w="19050">
            <a:solidFill>
              <a:schemeClr val="lt1"/>
            </a:solidFill>
          </a:ln>
          <a:effectLst/>
        </c:spPr>
      </c:pivotFmt>
      <c:pivotFmt>
        <c:idx val="14"/>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5"/>
        <c:spPr>
          <a:solidFill>
            <a:schemeClr val="accent5"/>
          </a:solidFill>
          <a:ln w="19050">
            <a:solidFill>
              <a:schemeClr val="lt1"/>
            </a:solidFill>
          </a:ln>
          <a:effectLst/>
        </c:spPr>
      </c:pivotFmt>
      <c:pivotFmt>
        <c:idx val="16"/>
        <c:spPr>
          <a:solidFill>
            <a:schemeClr val="accent5"/>
          </a:solidFill>
          <a:ln w="19050">
            <a:solidFill>
              <a:schemeClr val="lt1"/>
            </a:solidFill>
          </a:ln>
          <a:effectLst/>
        </c:spPr>
      </c:pivotFmt>
      <c:pivotFmt>
        <c:idx val="17"/>
        <c:spPr>
          <a:solidFill>
            <a:schemeClr val="accent5"/>
          </a:solidFill>
          <a:ln w="19050">
            <a:solidFill>
              <a:schemeClr val="lt1"/>
            </a:solidFill>
          </a:ln>
          <a:effectLst/>
        </c:spPr>
      </c:pivotFmt>
      <c:pivotFmt>
        <c:idx val="18"/>
        <c:spPr>
          <a:solidFill>
            <a:schemeClr val="accent5"/>
          </a:solidFill>
          <a:ln w="19050">
            <a:solidFill>
              <a:schemeClr val="lt1"/>
            </a:solidFill>
          </a:ln>
          <a:effectLst/>
        </c:spPr>
      </c:pivotFmt>
      <c:pivotFmt>
        <c:idx val="19"/>
        <c:spPr>
          <a:solidFill>
            <a:schemeClr val="accent5"/>
          </a:solidFill>
          <a:ln w="19050">
            <a:solidFill>
              <a:schemeClr val="lt1"/>
            </a:solidFill>
          </a:ln>
          <a:effectLst/>
        </c:spPr>
      </c:pivotFmt>
      <c:pivotFmt>
        <c:idx val="20"/>
        <c:spPr>
          <a:solidFill>
            <a:schemeClr val="accent5"/>
          </a:solidFill>
          <a:ln w="19050">
            <a:solidFill>
              <a:schemeClr val="lt1"/>
            </a:solidFill>
          </a:ln>
          <a:effectLst/>
        </c:spPr>
      </c:pivotFmt>
    </c:pivotFmts>
    <c:plotArea>
      <c:layout/>
      <c:pieChart>
        <c:varyColors val="1"/>
        <c:ser>
          <c:idx val="0"/>
          <c:order val="0"/>
          <c:tx>
            <c:strRef>
              <c:f>'CONTRIBUTION ANALYSIS'!$C$2</c:f>
              <c:strCache>
                <c:ptCount val="1"/>
                <c:pt idx="0">
                  <c:v>Total</c:v>
                </c:pt>
              </c:strCache>
            </c:strRef>
          </c:tx>
          <c:dPt>
            <c:idx val="0"/>
            <c:bubble3D val="0"/>
            <c:spPr>
              <a:solidFill>
                <a:schemeClr val="accent5">
                  <a:shade val="50000"/>
                </a:schemeClr>
              </a:solidFill>
              <a:ln w="19050">
                <a:solidFill>
                  <a:schemeClr val="lt1"/>
                </a:solidFill>
              </a:ln>
              <a:effectLst/>
            </c:spPr>
            <c:extLst>
              <c:ext xmlns:c16="http://schemas.microsoft.com/office/drawing/2014/chart" uri="{C3380CC4-5D6E-409C-BE32-E72D297353CC}">
                <c16:uniqueId val="{00000001-0578-450F-B8CA-F2811B3771FD}"/>
              </c:ext>
            </c:extLst>
          </c:dPt>
          <c:dPt>
            <c:idx val="1"/>
            <c:bubble3D val="0"/>
            <c:spPr>
              <a:solidFill>
                <a:schemeClr val="accent5">
                  <a:shade val="70000"/>
                </a:schemeClr>
              </a:solidFill>
              <a:ln w="19050">
                <a:solidFill>
                  <a:schemeClr val="lt1"/>
                </a:solidFill>
              </a:ln>
              <a:effectLst/>
            </c:spPr>
            <c:extLst>
              <c:ext xmlns:c16="http://schemas.microsoft.com/office/drawing/2014/chart" uri="{C3380CC4-5D6E-409C-BE32-E72D297353CC}">
                <c16:uniqueId val="{00000003-0578-450F-B8CA-F2811B3771FD}"/>
              </c:ext>
            </c:extLst>
          </c:dPt>
          <c:dPt>
            <c:idx val="2"/>
            <c:bubble3D val="0"/>
            <c:spPr>
              <a:solidFill>
                <a:schemeClr val="accent5">
                  <a:shade val="90000"/>
                </a:schemeClr>
              </a:solidFill>
              <a:ln w="19050">
                <a:solidFill>
                  <a:schemeClr val="lt1"/>
                </a:solidFill>
              </a:ln>
              <a:effectLst/>
            </c:spPr>
            <c:extLst>
              <c:ext xmlns:c16="http://schemas.microsoft.com/office/drawing/2014/chart" uri="{C3380CC4-5D6E-409C-BE32-E72D297353CC}">
                <c16:uniqueId val="{00000005-0578-450F-B8CA-F2811B3771FD}"/>
              </c:ext>
            </c:extLst>
          </c:dPt>
          <c:dPt>
            <c:idx val="3"/>
            <c:bubble3D val="0"/>
            <c:spPr>
              <a:solidFill>
                <a:schemeClr val="accent5">
                  <a:tint val="90000"/>
                </a:schemeClr>
              </a:solidFill>
              <a:ln w="19050">
                <a:solidFill>
                  <a:schemeClr val="lt1"/>
                </a:solidFill>
              </a:ln>
              <a:effectLst/>
            </c:spPr>
            <c:extLst>
              <c:ext xmlns:c16="http://schemas.microsoft.com/office/drawing/2014/chart" uri="{C3380CC4-5D6E-409C-BE32-E72D297353CC}">
                <c16:uniqueId val="{00000007-0578-450F-B8CA-F2811B3771FD}"/>
              </c:ext>
            </c:extLst>
          </c:dPt>
          <c:dPt>
            <c:idx val="4"/>
            <c:bubble3D val="0"/>
            <c:spPr>
              <a:solidFill>
                <a:schemeClr val="accent5">
                  <a:tint val="70000"/>
                </a:schemeClr>
              </a:solidFill>
              <a:ln w="19050">
                <a:solidFill>
                  <a:schemeClr val="lt1"/>
                </a:solidFill>
              </a:ln>
              <a:effectLst/>
            </c:spPr>
            <c:extLst>
              <c:ext xmlns:c16="http://schemas.microsoft.com/office/drawing/2014/chart" uri="{C3380CC4-5D6E-409C-BE32-E72D297353CC}">
                <c16:uniqueId val="{00000009-0578-450F-B8CA-F2811B3771FD}"/>
              </c:ext>
            </c:extLst>
          </c:dPt>
          <c:dPt>
            <c:idx val="5"/>
            <c:bubble3D val="0"/>
            <c:spPr>
              <a:solidFill>
                <a:schemeClr val="accent5">
                  <a:tint val="50000"/>
                </a:schemeClr>
              </a:solidFill>
              <a:ln w="19050">
                <a:solidFill>
                  <a:schemeClr val="lt1"/>
                </a:solidFill>
              </a:ln>
              <a:effectLst/>
            </c:spPr>
            <c:extLst>
              <c:ext xmlns:c16="http://schemas.microsoft.com/office/drawing/2014/chart" uri="{C3380CC4-5D6E-409C-BE32-E72D297353CC}">
                <c16:uniqueId val="{0000000B-0578-450F-B8CA-F2811B3771FD}"/>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'CONTRIBUTION ANALYSIS'!$B$3:$B$9</c:f>
              <c:strCache>
                <c:ptCount val="6"/>
                <c:pt idx="0">
                  <c:v>Carretera</c:v>
                </c:pt>
                <c:pt idx="1">
                  <c:v>Montana</c:v>
                </c:pt>
                <c:pt idx="2">
                  <c:v>Velo</c:v>
                </c:pt>
                <c:pt idx="3">
                  <c:v>Amarilla</c:v>
                </c:pt>
                <c:pt idx="4">
                  <c:v>VTT</c:v>
                </c:pt>
                <c:pt idx="5">
                  <c:v>Paseo</c:v>
                </c:pt>
              </c:strCache>
            </c:strRef>
          </c:cat>
          <c:val>
            <c:numRef>
              <c:f>'CONTRIBUTION ANALYSIS'!$C$3:$C$9</c:f>
              <c:numCache>
                <c:formatCode>0.00%</c:formatCode>
                <c:ptCount val="6"/>
                <c:pt idx="0">
                  <c:v>0.10807595381659431</c:v>
                </c:pt>
                <c:pt idx="1">
                  <c:v>0.12565984288802529</c:v>
                </c:pt>
                <c:pt idx="2">
                  <c:v>0.13642526204912928</c:v>
                </c:pt>
                <c:pt idx="3">
                  <c:v>0.16648574947490927</c:v>
                </c:pt>
                <c:pt idx="4">
                  <c:v>0.178886761124423</c:v>
                </c:pt>
                <c:pt idx="5">
                  <c:v>0.28446643064691846</c:v>
                </c:pt>
              </c:numCache>
            </c:numRef>
          </c:val>
          <c:extLst>
            <c:ext xmlns:c16="http://schemas.microsoft.com/office/drawing/2014/chart" uri="{C3380CC4-5D6E-409C-BE32-E72D297353CC}">
              <c16:uniqueId val="{0000000C-0578-450F-B8CA-F2811B3771FD}"/>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withinLinearReversed" id="25">
  <a:schemeClr val="accent5"/>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withinLinear" id="18">
  <a:schemeClr val="accent5"/>
</cs:colorStyle>
</file>

<file path=ppt/charts/style1.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3" name="Google Shape;21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pic>
        <p:nvPicPr>
          <p:cNvPr descr="C0-HD-BTM.png" id="17" name="Google Shape;17;p17"/>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18" name="Google Shape;18;p17"/>
          <p:cNvSpPr txBox="1"/>
          <p:nvPr>
            <p:ph type="ctrTitle"/>
          </p:nvPr>
        </p:nvSpPr>
        <p:spPr>
          <a:xfrm>
            <a:off x="1371600" y="1803405"/>
            <a:ext cx="9448800" cy="182509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000"/>
              <a:buFont typeface="Century Gothic"/>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7"/>
          <p:cNvSpPr txBox="1"/>
          <p:nvPr>
            <p:ph idx="1" type="subTitle"/>
          </p:nvPr>
        </p:nvSpPr>
        <p:spPr>
          <a:xfrm>
            <a:off x="1371600" y="3632201"/>
            <a:ext cx="9448800" cy="6858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
        <p:nvSpPr>
          <p:cNvPr id="20" name="Google Shape;20;p17"/>
          <p:cNvSpPr txBox="1"/>
          <p:nvPr>
            <p:ph idx="10" type="dt"/>
          </p:nvPr>
        </p:nvSpPr>
        <p:spPr>
          <a:xfrm>
            <a:off x="7909561" y="4314328"/>
            <a:ext cx="2910840" cy="374642"/>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7"/>
          <p:cNvSpPr txBox="1"/>
          <p:nvPr>
            <p:ph idx="11" type="ftr"/>
          </p:nvPr>
        </p:nvSpPr>
        <p:spPr>
          <a:xfrm>
            <a:off x="1371600" y="4323845"/>
            <a:ext cx="6400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7"/>
          <p:cNvSpPr txBox="1"/>
          <p:nvPr>
            <p:ph idx="12" type="sldNum"/>
          </p:nvPr>
        </p:nvSpPr>
        <p:spPr>
          <a:xfrm>
            <a:off x="8077200" y="1430866"/>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18"/>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8"/>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6" name="Google Shape;26;p18"/>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8"/>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8"/>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9" name="Shape 29"/>
        <p:cNvGrpSpPr/>
        <p:nvPr/>
      </p:nvGrpSpPr>
      <p:grpSpPr>
        <a:xfrm>
          <a:off x="0" y="0"/>
          <a:ext cx="0" cy="0"/>
          <a:chOff x="0" y="0"/>
          <a:chExt cx="0" cy="0"/>
        </a:xfrm>
      </p:grpSpPr>
      <p:sp>
        <p:nvSpPr>
          <p:cNvPr id="30" name="Google Shape;30;p19"/>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9"/>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9"/>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33" name="Shape 33"/>
        <p:cNvGrpSpPr/>
        <p:nvPr/>
      </p:nvGrpSpPr>
      <p:grpSpPr>
        <a:xfrm>
          <a:off x="0" y="0"/>
          <a:ext cx="0" cy="0"/>
          <a:chOff x="0" y="0"/>
          <a:chExt cx="0" cy="0"/>
        </a:xfrm>
      </p:grpSpPr>
      <p:pic>
        <p:nvPicPr>
          <p:cNvPr descr="C0-HD-BTM.png" id="34" name="Google Shape;34;p20"/>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35" name="Google Shape;35;p20"/>
          <p:cNvSpPr txBox="1"/>
          <p:nvPr>
            <p:ph type="title"/>
          </p:nvPr>
        </p:nvSpPr>
        <p:spPr>
          <a:xfrm>
            <a:off x="685800" y="753533"/>
            <a:ext cx="10820399" cy="2801935"/>
          </a:xfrm>
          <a:prstGeom prst="rect">
            <a:avLst/>
          </a:prstGeom>
          <a:noFill/>
          <a:ln>
            <a:noFill/>
          </a:ln>
        </p:spPr>
        <p:txBody>
          <a:bodyPr anchorCtr="0" anchor="b" bIns="45700" lIns="91425" spcFirstLastPara="1" rIns="91425" wrap="square" tIns="45700">
            <a:normAutofit/>
          </a:bodyPr>
          <a:lstStyle>
            <a:lvl1pPr lvl="0" algn="r">
              <a:lnSpc>
                <a:spcPct val="90000"/>
              </a:lnSpc>
              <a:spcBef>
                <a:spcPts val="0"/>
              </a:spcBef>
              <a:spcAft>
                <a:spcPts val="0"/>
              </a:spcAft>
              <a:buClr>
                <a:schemeClr val="lt1"/>
              </a:buClr>
              <a:buSzPts val="4000"/>
              <a:buFont typeface="Century Gothic"/>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20"/>
          <p:cNvSpPr txBox="1"/>
          <p:nvPr>
            <p:ph idx="1" type="body"/>
          </p:nvPr>
        </p:nvSpPr>
        <p:spPr>
          <a:xfrm>
            <a:off x="1024467" y="3641725"/>
            <a:ext cx="10490200" cy="955675"/>
          </a:xfrm>
          <a:prstGeom prst="rect">
            <a:avLst/>
          </a:prstGeom>
          <a:noFill/>
          <a:ln>
            <a:noFill/>
          </a:ln>
        </p:spPr>
        <p:txBody>
          <a:bodyPr anchorCtr="0" anchor="t"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2200"/>
              <a:buNone/>
              <a:defRPr sz="2200">
                <a:solidFill>
                  <a:schemeClr val="lt1"/>
                </a:solidFill>
              </a:defRPr>
            </a:lvl1pPr>
            <a:lvl2pPr indent="-228600" lvl="1" marL="914400" algn="l">
              <a:lnSpc>
                <a:spcPct val="90000"/>
              </a:lnSpc>
              <a:spcBef>
                <a:spcPts val="500"/>
              </a:spcBef>
              <a:spcAft>
                <a:spcPts val="0"/>
              </a:spcAft>
              <a:buClr>
                <a:schemeClr val="lt1"/>
              </a:buClr>
              <a:buSzPts val="2000"/>
              <a:buNone/>
              <a:defRPr sz="2000">
                <a:solidFill>
                  <a:schemeClr val="lt1"/>
                </a:solidFill>
              </a:defRPr>
            </a:lvl2pPr>
            <a:lvl3pPr indent="-228600" lvl="2" marL="1371600" algn="l">
              <a:lnSpc>
                <a:spcPct val="90000"/>
              </a:lnSpc>
              <a:spcBef>
                <a:spcPts val="500"/>
              </a:spcBef>
              <a:spcAft>
                <a:spcPts val="0"/>
              </a:spcAft>
              <a:buClr>
                <a:schemeClr val="lt1"/>
              </a:buClr>
              <a:buSzPts val="1800"/>
              <a:buNone/>
              <a:defRPr sz="1800">
                <a:solidFill>
                  <a:schemeClr val="lt1"/>
                </a:solidFill>
              </a:defRPr>
            </a:lvl3pPr>
            <a:lvl4pPr indent="-228600" lvl="3" marL="1828800" algn="l">
              <a:lnSpc>
                <a:spcPct val="90000"/>
              </a:lnSpc>
              <a:spcBef>
                <a:spcPts val="500"/>
              </a:spcBef>
              <a:spcAft>
                <a:spcPts val="0"/>
              </a:spcAft>
              <a:buClr>
                <a:schemeClr val="lt1"/>
              </a:buClr>
              <a:buSzPts val="1600"/>
              <a:buNone/>
              <a:defRPr sz="1600">
                <a:solidFill>
                  <a:schemeClr val="lt1"/>
                </a:solidFill>
              </a:defRPr>
            </a:lvl4pPr>
            <a:lvl5pPr indent="-228600" lvl="4" marL="2286000" algn="l">
              <a:lnSpc>
                <a:spcPct val="90000"/>
              </a:lnSpc>
              <a:spcBef>
                <a:spcPts val="500"/>
              </a:spcBef>
              <a:spcAft>
                <a:spcPts val="0"/>
              </a:spcAft>
              <a:buClr>
                <a:schemeClr val="lt1"/>
              </a:buClr>
              <a:buSzPts val="1600"/>
              <a:buNone/>
              <a:defRPr sz="1600">
                <a:solidFill>
                  <a:schemeClr val="lt1"/>
                </a:solidFill>
              </a:defRPr>
            </a:lvl5pPr>
            <a:lvl6pPr indent="-228600" lvl="5" marL="2743200" algn="l">
              <a:lnSpc>
                <a:spcPct val="90000"/>
              </a:lnSpc>
              <a:spcBef>
                <a:spcPts val="500"/>
              </a:spcBef>
              <a:spcAft>
                <a:spcPts val="0"/>
              </a:spcAft>
              <a:buClr>
                <a:schemeClr val="lt1"/>
              </a:buClr>
              <a:buSzPts val="1600"/>
              <a:buNone/>
              <a:defRPr sz="1600">
                <a:solidFill>
                  <a:schemeClr val="lt1"/>
                </a:solidFill>
              </a:defRPr>
            </a:lvl6pPr>
            <a:lvl7pPr indent="-228600" lvl="6" marL="3200400" algn="l">
              <a:lnSpc>
                <a:spcPct val="90000"/>
              </a:lnSpc>
              <a:spcBef>
                <a:spcPts val="500"/>
              </a:spcBef>
              <a:spcAft>
                <a:spcPts val="0"/>
              </a:spcAft>
              <a:buClr>
                <a:schemeClr val="lt1"/>
              </a:buClr>
              <a:buSzPts val="1600"/>
              <a:buNone/>
              <a:defRPr sz="1600">
                <a:solidFill>
                  <a:schemeClr val="lt1"/>
                </a:solidFill>
              </a:defRPr>
            </a:lvl7pPr>
            <a:lvl8pPr indent="-228600" lvl="7" marL="3657600" algn="l">
              <a:lnSpc>
                <a:spcPct val="90000"/>
              </a:lnSpc>
              <a:spcBef>
                <a:spcPts val="500"/>
              </a:spcBef>
              <a:spcAft>
                <a:spcPts val="0"/>
              </a:spcAft>
              <a:buClr>
                <a:schemeClr val="lt1"/>
              </a:buClr>
              <a:buSzPts val="1600"/>
              <a:buNone/>
              <a:defRPr sz="1600">
                <a:solidFill>
                  <a:schemeClr val="lt1"/>
                </a:solidFill>
              </a:defRPr>
            </a:lvl8pPr>
            <a:lvl9pPr indent="-228600" lvl="8" marL="4114800" algn="l">
              <a:lnSpc>
                <a:spcPct val="90000"/>
              </a:lnSpc>
              <a:spcBef>
                <a:spcPts val="500"/>
              </a:spcBef>
              <a:spcAft>
                <a:spcPts val="0"/>
              </a:spcAft>
              <a:buClr>
                <a:schemeClr val="lt1"/>
              </a:buClr>
              <a:buSzPts val="1600"/>
              <a:buNone/>
              <a:defRPr sz="1600">
                <a:solidFill>
                  <a:schemeClr val="lt1"/>
                </a:solidFill>
              </a:defRPr>
            </a:lvl9pPr>
          </a:lstStyle>
          <a:p/>
        </p:txBody>
      </p:sp>
      <p:sp>
        <p:nvSpPr>
          <p:cNvPr id="37" name="Google Shape;37;p20"/>
          <p:cNvSpPr txBox="1"/>
          <p:nvPr>
            <p:ph idx="10" type="dt"/>
          </p:nvPr>
        </p:nvSpPr>
        <p:spPr>
          <a:xfrm>
            <a:off x="7814452" y="38100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0"/>
          <p:cNvSpPr txBox="1"/>
          <p:nvPr>
            <p:ph idx="11" type="ftr"/>
          </p:nvPr>
        </p:nvSpPr>
        <p:spPr>
          <a:xfrm>
            <a:off x="685800" y="381001"/>
            <a:ext cx="6991492" cy="36406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0"/>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0" name="Shape 40"/>
        <p:cNvGrpSpPr/>
        <p:nvPr/>
      </p:nvGrpSpPr>
      <p:grpSpPr>
        <a:xfrm>
          <a:off x="0" y="0"/>
          <a:ext cx="0" cy="0"/>
          <a:chOff x="0" y="0"/>
          <a:chExt cx="0" cy="0"/>
        </a:xfrm>
      </p:grpSpPr>
      <p:sp>
        <p:nvSpPr>
          <p:cNvPr id="41" name="Google Shape;41;p21"/>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1"/>
          <p:cNvSpPr txBox="1"/>
          <p:nvPr>
            <p:ph idx="1" type="body"/>
          </p:nvPr>
        </p:nvSpPr>
        <p:spPr>
          <a:xfrm>
            <a:off x="685800" y="2194559"/>
            <a:ext cx="5334000" cy="40241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3" name="Google Shape;43;p21"/>
          <p:cNvSpPr txBox="1"/>
          <p:nvPr>
            <p:ph idx="2" type="body"/>
          </p:nvPr>
        </p:nvSpPr>
        <p:spPr>
          <a:xfrm>
            <a:off x="6172200" y="2194559"/>
            <a:ext cx="5334000" cy="40241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4" name="Google Shape;44;p21"/>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21"/>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21"/>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7" name="Shape 47"/>
        <p:cNvGrpSpPr/>
        <p:nvPr/>
      </p:nvGrpSpPr>
      <p:grpSpPr>
        <a:xfrm>
          <a:off x="0" y="0"/>
          <a:ext cx="0" cy="0"/>
          <a:chOff x="0" y="0"/>
          <a:chExt cx="0" cy="0"/>
        </a:xfrm>
      </p:grpSpPr>
      <p:sp>
        <p:nvSpPr>
          <p:cNvPr id="48" name="Google Shape;48;p22"/>
          <p:cNvSpPr txBox="1"/>
          <p:nvPr>
            <p:ph type="title"/>
          </p:nvPr>
        </p:nvSpPr>
        <p:spPr>
          <a:xfrm>
            <a:off x="2895600" y="762000"/>
            <a:ext cx="8610600" cy="1295400"/>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22"/>
          <p:cNvSpPr txBox="1"/>
          <p:nvPr>
            <p:ph idx="1" type="body"/>
          </p:nvPr>
        </p:nvSpPr>
        <p:spPr>
          <a:xfrm>
            <a:off x="914409" y="2183802"/>
            <a:ext cx="50799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b="0" sz="28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50" name="Google Shape;50;p22"/>
          <p:cNvSpPr txBox="1"/>
          <p:nvPr>
            <p:ph idx="2" type="body"/>
          </p:nvPr>
        </p:nvSpPr>
        <p:spPr>
          <a:xfrm>
            <a:off x="685800" y="3132666"/>
            <a:ext cx="5311775" cy="30860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51" name="Google Shape;51;p22"/>
          <p:cNvSpPr txBox="1"/>
          <p:nvPr>
            <p:ph idx="3" type="body"/>
          </p:nvPr>
        </p:nvSpPr>
        <p:spPr>
          <a:xfrm>
            <a:off x="6400800" y="2183802"/>
            <a:ext cx="510540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b="0" sz="28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52" name="Google Shape;52;p22"/>
          <p:cNvSpPr txBox="1"/>
          <p:nvPr>
            <p:ph idx="4" type="body"/>
          </p:nvPr>
        </p:nvSpPr>
        <p:spPr>
          <a:xfrm>
            <a:off x="6172200" y="3132666"/>
            <a:ext cx="5334000" cy="30860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53" name="Google Shape;53;p22"/>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2"/>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22"/>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sp>
        <p:nvSpPr>
          <p:cNvPr id="57" name="Google Shape;57;p23"/>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23"/>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3"/>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3"/>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1" name="Shape 61"/>
        <p:cNvGrpSpPr/>
        <p:nvPr/>
      </p:nvGrpSpPr>
      <p:grpSpPr>
        <a:xfrm>
          <a:off x="0" y="0"/>
          <a:ext cx="0" cy="0"/>
          <a:chOff x="0" y="0"/>
          <a:chExt cx="0" cy="0"/>
        </a:xfrm>
      </p:grpSpPr>
      <p:sp>
        <p:nvSpPr>
          <p:cNvPr id="62" name="Google Shape;62;p24"/>
          <p:cNvSpPr txBox="1"/>
          <p:nvPr>
            <p:ph type="title"/>
          </p:nvPr>
        </p:nvSpPr>
        <p:spPr>
          <a:xfrm>
            <a:off x="685800" y="1524000"/>
            <a:ext cx="411480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4"/>
          <p:cNvSpPr txBox="1"/>
          <p:nvPr>
            <p:ph idx="1" type="body"/>
          </p:nvPr>
        </p:nvSpPr>
        <p:spPr>
          <a:xfrm>
            <a:off x="4995582" y="746759"/>
            <a:ext cx="6510618" cy="5471925"/>
          </a:xfrm>
          <a:prstGeom prst="rect">
            <a:avLst/>
          </a:prstGeom>
          <a:noFill/>
          <a:ln>
            <a:noFill/>
          </a:ln>
        </p:spPr>
        <p:txBody>
          <a:bodyPr anchorCtr="0" anchor="ctr"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64" name="Google Shape;64;p24"/>
          <p:cNvSpPr txBox="1"/>
          <p:nvPr>
            <p:ph idx="2" type="body"/>
          </p:nvPr>
        </p:nvSpPr>
        <p:spPr>
          <a:xfrm>
            <a:off x="685800" y="3124199"/>
            <a:ext cx="4114800" cy="309448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65" name="Google Shape;65;p24"/>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4"/>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4"/>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8" name="Shape 68"/>
        <p:cNvGrpSpPr/>
        <p:nvPr/>
      </p:nvGrpSpPr>
      <p:grpSpPr>
        <a:xfrm>
          <a:off x="0" y="0"/>
          <a:ext cx="0" cy="0"/>
          <a:chOff x="0" y="0"/>
          <a:chExt cx="0" cy="0"/>
        </a:xfrm>
      </p:grpSpPr>
      <p:sp>
        <p:nvSpPr>
          <p:cNvPr id="69" name="Google Shape;69;p25"/>
          <p:cNvSpPr txBox="1"/>
          <p:nvPr>
            <p:ph type="title"/>
          </p:nvPr>
        </p:nvSpPr>
        <p:spPr>
          <a:xfrm>
            <a:off x="685800" y="1524000"/>
            <a:ext cx="687324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5"/>
          <p:cNvSpPr/>
          <p:nvPr>
            <p:ph idx="2" type="pic"/>
          </p:nvPr>
        </p:nvSpPr>
        <p:spPr>
          <a:xfrm>
            <a:off x="7861238" y="751241"/>
            <a:ext cx="3644962" cy="5467443"/>
          </a:xfrm>
          <a:prstGeom prst="rect">
            <a:avLst/>
          </a:prstGeom>
          <a:noFill/>
          <a:ln>
            <a:noFill/>
          </a:ln>
        </p:spPr>
      </p:sp>
      <p:sp>
        <p:nvSpPr>
          <p:cNvPr id="71" name="Google Shape;71;p25"/>
          <p:cNvSpPr txBox="1"/>
          <p:nvPr>
            <p:ph idx="1" type="body"/>
          </p:nvPr>
        </p:nvSpPr>
        <p:spPr>
          <a:xfrm>
            <a:off x="685800" y="3124199"/>
            <a:ext cx="6873240" cy="309448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72" name="Google Shape;72;p25"/>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5"/>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25"/>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75" name="Shape 75"/>
        <p:cNvGrpSpPr/>
        <p:nvPr/>
      </p:nvGrpSpPr>
      <p:grpSpPr>
        <a:xfrm>
          <a:off x="0" y="0"/>
          <a:ext cx="0" cy="0"/>
          <a:chOff x="0" y="0"/>
          <a:chExt cx="0" cy="0"/>
        </a:xfrm>
      </p:grpSpPr>
      <p:sp>
        <p:nvSpPr>
          <p:cNvPr id="76" name="Google Shape;76;p26"/>
          <p:cNvSpPr txBox="1"/>
          <p:nvPr>
            <p:ph type="title"/>
          </p:nvPr>
        </p:nvSpPr>
        <p:spPr>
          <a:xfrm>
            <a:off x="685777" y="4697360"/>
            <a:ext cx="10822034" cy="81935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26"/>
          <p:cNvSpPr/>
          <p:nvPr>
            <p:ph idx="2" type="pic"/>
          </p:nvPr>
        </p:nvSpPr>
        <p:spPr>
          <a:xfrm>
            <a:off x="681727" y="941439"/>
            <a:ext cx="10821840" cy="3478161"/>
          </a:xfrm>
          <a:prstGeom prst="rect">
            <a:avLst/>
          </a:prstGeom>
          <a:noFill/>
          <a:ln>
            <a:noFill/>
          </a:ln>
        </p:spPr>
      </p:sp>
      <p:sp>
        <p:nvSpPr>
          <p:cNvPr id="78" name="Google Shape;78;p26"/>
          <p:cNvSpPr txBox="1"/>
          <p:nvPr>
            <p:ph idx="1" type="body"/>
          </p:nvPr>
        </p:nvSpPr>
        <p:spPr>
          <a:xfrm>
            <a:off x="685800" y="5516715"/>
            <a:ext cx="10820400" cy="70196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79" name="Google Shape;79;p26"/>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26"/>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26"/>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showMasterSp="0">
  <p:cSld name="Title and Caption">
    <p:spTree>
      <p:nvGrpSpPr>
        <p:cNvPr id="82" name="Shape 82"/>
        <p:cNvGrpSpPr/>
        <p:nvPr/>
      </p:nvGrpSpPr>
      <p:grpSpPr>
        <a:xfrm>
          <a:off x="0" y="0"/>
          <a:ext cx="0" cy="0"/>
          <a:chOff x="0" y="0"/>
          <a:chExt cx="0" cy="0"/>
        </a:xfrm>
      </p:grpSpPr>
      <p:pic>
        <p:nvPicPr>
          <p:cNvPr descr="C0-HD-BTM.png" id="83" name="Google Shape;83;p27"/>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84" name="Google Shape;84;p27"/>
          <p:cNvSpPr txBox="1"/>
          <p:nvPr>
            <p:ph type="title"/>
          </p:nvPr>
        </p:nvSpPr>
        <p:spPr>
          <a:xfrm>
            <a:off x="685800" y="753532"/>
            <a:ext cx="10820400" cy="280246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27"/>
          <p:cNvSpPr txBox="1"/>
          <p:nvPr>
            <p:ph idx="1" type="body"/>
          </p:nvPr>
        </p:nvSpPr>
        <p:spPr>
          <a:xfrm>
            <a:off x="1024467" y="3649133"/>
            <a:ext cx="10130516" cy="999067"/>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86" name="Google Shape;86;p27"/>
          <p:cNvSpPr txBox="1"/>
          <p:nvPr>
            <p:ph idx="10" type="dt"/>
          </p:nvPr>
        </p:nvSpPr>
        <p:spPr>
          <a:xfrm>
            <a:off x="7814452" y="38100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27"/>
          <p:cNvSpPr txBox="1"/>
          <p:nvPr>
            <p:ph idx="11" type="ftr"/>
          </p:nvPr>
        </p:nvSpPr>
        <p:spPr>
          <a:xfrm>
            <a:off x="685800" y="379941"/>
            <a:ext cx="699149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27"/>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showMasterSp="0">
  <p:cSld name="Quote with Caption">
    <p:spTree>
      <p:nvGrpSpPr>
        <p:cNvPr id="89" name="Shape 89"/>
        <p:cNvGrpSpPr/>
        <p:nvPr/>
      </p:nvGrpSpPr>
      <p:grpSpPr>
        <a:xfrm>
          <a:off x="0" y="0"/>
          <a:ext cx="0" cy="0"/>
          <a:chOff x="0" y="0"/>
          <a:chExt cx="0" cy="0"/>
        </a:xfrm>
      </p:grpSpPr>
      <p:pic>
        <p:nvPicPr>
          <p:cNvPr descr="C0-HD-BTM.png" id="90" name="Google Shape;90;p28"/>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91" name="Google Shape;91;p28"/>
          <p:cNvSpPr txBox="1"/>
          <p:nvPr>
            <p:ph type="title"/>
          </p:nvPr>
        </p:nvSpPr>
        <p:spPr>
          <a:xfrm>
            <a:off x="1024467" y="753533"/>
            <a:ext cx="10151533" cy="260449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28"/>
          <p:cNvSpPr txBox="1"/>
          <p:nvPr>
            <p:ph idx="1" type="body"/>
          </p:nvPr>
        </p:nvSpPr>
        <p:spPr>
          <a:xfrm>
            <a:off x="1303865" y="3365556"/>
            <a:ext cx="9592736" cy="44444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93" name="Google Shape;93;p28"/>
          <p:cNvSpPr txBox="1"/>
          <p:nvPr>
            <p:ph idx="2" type="body"/>
          </p:nvPr>
        </p:nvSpPr>
        <p:spPr>
          <a:xfrm>
            <a:off x="1024467" y="3959862"/>
            <a:ext cx="10151533" cy="679871"/>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94" name="Google Shape;94;p28"/>
          <p:cNvSpPr txBox="1"/>
          <p:nvPr>
            <p:ph idx="10" type="dt"/>
          </p:nvPr>
        </p:nvSpPr>
        <p:spPr>
          <a:xfrm>
            <a:off x="7814452" y="38100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28"/>
          <p:cNvSpPr txBox="1"/>
          <p:nvPr>
            <p:ph idx="11" type="ftr"/>
          </p:nvPr>
        </p:nvSpPr>
        <p:spPr>
          <a:xfrm>
            <a:off x="685800" y="379941"/>
            <a:ext cx="699149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28"/>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7" name="Google Shape;97;p28"/>
          <p:cNvSpPr txBox="1"/>
          <p:nvPr/>
        </p:nvSpPr>
        <p:spPr>
          <a:xfrm>
            <a:off x="476250" y="933450"/>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lt1"/>
              </a:buClr>
              <a:buSzPts val="8000"/>
              <a:buFont typeface="Century Gothic"/>
              <a:buNone/>
            </a:pPr>
            <a:r>
              <a:rPr b="0" lang="en-US" sz="8000" cap="none">
                <a:solidFill>
                  <a:schemeClr val="lt1"/>
                </a:solidFill>
                <a:latin typeface="Century Gothic"/>
                <a:ea typeface="Century Gothic"/>
                <a:cs typeface="Century Gothic"/>
                <a:sym typeface="Century Gothic"/>
              </a:rPr>
              <a:t>“</a:t>
            </a:r>
            <a:endParaRPr/>
          </a:p>
        </p:txBody>
      </p:sp>
      <p:sp>
        <p:nvSpPr>
          <p:cNvPr id="98" name="Google Shape;98;p28"/>
          <p:cNvSpPr txBox="1"/>
          <p:nvPr/>
        </p:nvSpPr>
        <p:spPr>
          <a:xfrm>
            <a:off x="10984230" y="2701290"/>
            <a:ext cx="609600" cy="584776"/>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lt1"/>
              </a:buClr>
              <a:buSzPts val="8000"/>
              <a:buFont typeface="Century Gothic"/>
              <a:buNone/>
            </a:pPr>
            <a:r>
              <a:rPr b="0" lang="en-US" sz="8000" cap="none">
                <a:solidFill>
                  <a:schemeClr val="lt1"/>
                </a:solidFill>
                <a:latin typeface="Century Gothic"/>
                <a:ea typeface="Century Gothic"/>
                <a:cs typeface="Century Gothic"/>
                <a:sym typeface="Century Gothic"/>
              </a:rPr>
              <a: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showMasterSp="0">
  <p:cSld name="Name Card">
    <p:spTree>
      <p:nvGrpSpPr>
        <p:cNvPr id="99" name="Shape 99"/>
        <p:cNvGrpSpPr/>
        <p:nvPr/>
      </p:nvGrpSpPr>
      <p:grpSpPr>
        <a:xfrm>
          <a:off x="0" y="0"/>
          <a:ext cx="0" cy="0"/>
          <a:chOff x="0" y="0"/>
          <a:chExt cx="0" cy="0"/>
        </a:xfrm>
      </p:grpSpPr>
      <p:pic>
        <p:nvPicPr>
          <p:cNvPr descr="C0-HD-BTM.png" id="100" name="Google Shape;100;p29"/>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101" name="Google Shape;101;p29"/>
          <p:cNvSpPr txBox="1"/>
          <p:nvPr>
            <p:ph type="title"/>
          </p:nvPr>
        </p:nvSpPr>
        <p:spPr>
          <a:xfrm>
            <a:off x="1024495" y="1124701"/>
            <a:ext cx="10146186" cy="251183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Century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29"/>
          <p:cNvSpPr txBox="1"/>
          <p:nvPr>
            <p:ph idx="1" type="body"/>
          </p:nvPr>
        </p:nvSpPr>
        <p:spPr>
          <a:xfrm>
            <a:off x="1024467" y="3648315"/>
            <a:ext cx="10144654" cy="99988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103" name="Google Shape;103;p29"/>
          <p:cNvSpPr txBox="1"/>
          <p:nvPr>
            <p:ph idx="10" type="dt"/>
          </p:nvPr>
        </p:nvSpPr>
        <p:spPr>
          <a:xfrm>
            <a:off x="7814452" y="378883"/>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29"/>
          <p:cNvSpPr txBox="1"/>
          <p:nvPr>
            <p:ph idx="11" type="ftr"/>
          </p:nvPr>
        </p:nvSpPr>
        <p:spPr>
          <a:xfrm>
            <a:off x="685800" y="378883"/>
            <a:ext cx="699149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29"/>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06" name="Shape 106"/>
        <p:cNvGrpSpPr/>
        <p:nvPr/>
      </p:nvGrpSpPr>
      <p:grpSpPr>
        <a:xfrm>
          <a:off x="0" y="0"/>
          <a:ext cx="0" cy="0"/>
          <a:chOff x="0" y="0"/>
          <a:chExt cx="0" cy="0"/>
        </a:xfrm>
      </p:grpSpPr>
      <p:sp>
        <p:nvSpPr>
          <p:cNvPr id="107" name="Google Shape;107;p30"/>
          <p:cNvSpPr txBox="1"/>
          <p:nvPr>
            <p:ph type="title"/>
          </p:nvPr>
        </p:nvSpPr>
        <p:spPr>
          <a:xfrm>
            <a:off x="2895600" y="761999"/>
            <a:ext cx="8610599" cy="1303867"/>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8" name="Google Shape;108;p30"/>
          <p:cNvSpPr txBox="1"/>
          <p:nvPr>
            <p:ph idx="1" type="body"/>
          </p:nvPr>
        </p:nvSpPr>
        <p:spPr>
          <a:xfrm>
            <a:off x="685800" y="2202080"/>
            <a:ext cx="3456432" cy="617320"/>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09" name="Google Shape;109;p30"/>
          <p:cNvSpPr txBox="1"/>
          <p:nvPr>
            <p:ph idx="2" type="body"/>
          </p:nvPr>
        </p:nvSpPr>
        <p:spPr>
          <a:xfrm>
            <a:off x="685799" y="2904565"/>
            <a:ext cx="3456432" cy="331413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10" name="Google Shape;110;p30"/>
          <p:cNvSpPr txBox="1"/>
          <p:nvPr>
            <p:ph idx="3" type="body"/>
          </p:nvPr>
        </p:nvSpPr>
        <p:spPr>
          <a:xfrm>
            <a:off x="4368800" y="2201333"/>
            <a:ext cx="3456432" cy="626534"/>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11" name="Google Shape;111;p30"/>
          <p:cNvSpPr txBox="1"/>
          <p:nvPr>
            <p:ph idx="4" type="body"/>
          </p:nvPr>
        </p:nvSpPr>
        <p:spPr>
          <a:xfrm>
            <a:off x="4366858" y="2904067"/>
            <a:ext cx="3456432" cy="331461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12" name="Google Shape;112;p30"/>
          <p:cNvSpPr txBox="1"/>
          <p:nvPr>
            <p:ph idx="5" type="body"/>
          </p:nvPr>
        </p:nvSpPr>
        <p:spPr>
          <a:xfrm>
            <a:off x="8051800" y="2192866"/>
            <a:ext cx="3456432" cy="626534"/>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13" name="Google Shape;113;p30"/>
          <p:cNvSpPr txBox="1"/>
          <p:nvPr>
            <p:ph idx="6" type="body"/>
          </p:nvPr>
        </p:nvSpPr>
        <p:spPr>
          <a:xfrm>
            <a:off x="8051801" y="2904565"/>
            <a:ext cx="3456432" cy="331413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14" name="Google Shape;114;p30"/>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30"/>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30"/>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117" name="Shape 117"/>
        <p:cNvGrpSpPr/>
        <p:nvPr/>
      </p:nvGrpSpPr>
      <p:grpSpPr>
        <a:xfrm>
          <a:off x="0" y="0"/>
          <a:ext cx="0" cy="0"/>
          <a:chOff x="0" y="0"/>
          <a:chExt cx="0" cy="0"/>
        </a:xfrm>
      </p:grpSpPr>
      <p:sp>
        <p:nvSpPr>
          <p:cNvPr id="118" name="Google Shape;118;p31"/>
          <p:cNvSpPr txBox="1"/>
          <p:nvPr>
            <p:ph type="title"/>
          </p:nvPr>
        </p:nvSpPr>
        <p:spPr>
          <a:xfrm>
            <a:off x="2895600" y="762000"/>
            <a:ext cx="8610599" cy="1295400"/>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9" name="Google Shape;119;p31"/>
          <p:cNvSpPr txBox="1"/>
          <p:nvPr>
            <p:ph idx="1" type="body"/>
          </p:nvPr>
        </p:nvSpPr>
        <p:spPr>
          <a:xfrm>
            <a:off x="688618" y="4191000"/>
            <a:ext cx="3451582" cy="682765"/>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20" name="Google Shape;120;p31"/>
          <p:cNvSpPr/>
          <p:nvPr>
            <p:ph idx="2" type="pic"/>
          </p:nvPr>
        </p:nvSpPr>
        <p:spPr>
          <a:xfrm>
            <a:off x="688618" y="2362200"/>
            <a:ext cx="3451582" cy="1524000"/>
          </a:xfrm>
          <a:prstGeom prst="roundRect">
            <a:avLst>
              <a:gd fmla="val 0" name="adj"/>
            </a:avLst>
          </a:prstGeom>
          <a:noFill/>
          <a:ln>
            <a:noFill/>
          </a:ln>
          <a:effectLst>
            <a:outerShdw blurRad="50800" rotWithShape="0" algn="tl" dir="5400000" dist="50800">
              <a:srgbClr val="000000">
                <a:alpha val="42745"/>
              </a:srgbClr>
            </a:outerShdw>
          </a:effectLst>
        </p:spPr>
      </p:sp>
      <p:sp>
        <p:nvSpPr>
          <p:cNvPr id="121" name="Google Shape;121;p31"/>
          <p:cNvSpPr txBox="1"/>
          <p:nvPr>
            <p:ph idx="3" type="body"/>
          </p:nvPr>
        </p:nvSpPr>
        <p:spPr>
          <a:xfrm>
            <a:off x="688618" y="4873764"/>
            <a:ext cx="3451582" cy="13449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22" name="Google Shape;122;p31"/>
          <p:cNvSpPr txBox="1"/>
          <p:nvPr>
            <p:ph idx="4" type="body"/>
          </p:nvPr>
        </p:nvSpPr>
        <p:spPr>
          <a:xfrm>
            <a:off x="4374263" y="4191000"/>
            <a:ext cx="3448935" cy="682765"/>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23" name="Google Shape;123;p31"/>
          <p:cNvSpPr/>
          <p:nvPr>
            <p:ph idx="5" type="pic"/>
          </p:nvPr>
        </p:nvSpPr>
        <p:spPr>
          <a:xfrm>
            <a:off x="4374263" y="2362200"/>
            <a:ext cx="3448936" cy="1524000"/>
          </a:xfrm>
          <a:prstGeom prst="roundRect">
            <a:avLst>
              <a:gd fmla="val 0" name="adj"/>
            </a:avLst>
          </a:prstGeom>
          <a:noFill/>
          <a:ln>
            <a:noFill/>
          </a:ln>
          <a:effectLst>
            <a:outerShdw blurRad="50800" rotWithShape="0" algn="tl" dir="5400000" dist="50800">
              <a:srgbClr val="000000">
                <a:alpha val="42745"/>
              </a:srgbClr>
            </a:outerShdw>
          </a:effectLst>
        </p:spPr>
      </p:sp>
      <p:sp>
        <p:nvSpPr>
          <p:cNvPr id="124" name="Google Shape;124;p31"/>
          <p:cNvSpPr txBox="1"/>
          <p:nvPr>
            <p:ph idx="6" type="body"/>
          </p:nvPr>
        </p:nvSpPr>
        <p:spPr>
          <a:xfrm>
            <a:off x="4374264" y="4873763"/>
            <a:ext cx="3448935" cy="13449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25" name="Google Shape;125;p31"/>
          <p:cNvSpPr txBox="1"/>
          <p:nvPr>
            <p:ph idx="7" type="body"/>
          </p:nvPr>
        </p:nvSpPr>
        <p:spPr>
          <a:xfrm>
            <a:off x="8049731" y="4191000"/>
            <a:ext cx="3456469" cy="682765"/>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lt1"/>
              </a:buClr>
              <a:buSzPts val="2400"/>
              <a:buNone/>
              <a:defRPr b="0" sz="2400">
                <a:solidFill>
                  <a:schemeClr val="lt1"/>
                </a:solidFill>
              </a:defRPr>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26" name="Google Shape;126;p31"/>
          <p:cNvSpPr/>
          <p:nvPr>
            <p:ph idx="8" type="pic"/>
          </p:nvPr>
        </p:nvSpPr>
        <p:spPr>
          <a:xfrm>
            <a:off x="8049855" y="2362200"/>
            <a:ext cx="3447878" cy="1524000"/>
          </a:xfrm>
          <a:prstGeom prst="roundRect">
            <a:avLst>
              <a:gd fmla="val 0" name="adj"/>
            </a:avLst>
          </a:prstGeom>
          <a:noFill/>
          <a:ln>
            <a:noFill/>
          </a:ln>
          <a:effectLst>
            <a:outerShdw blurRad="50800" rotWithShape="0" algn="tl" dir="5400000" dist="50800">
              <a:srgbClr val="000000">
                <a:alpha val="42745"/>
              </a:srgbClr>
            </a:outerShdw>
          </a:effectLst>
        </p:spPr>
      </p:sp>
      <p:sp>
        <p:nvSpPr>
          <p:cNvPr id="127" name="Google Shape;127;p31"/>
          <p:cNvSpPr txBox="1"/>
          <p:nvPr>
            <p:ph idx="9" type="body"/>
          </p:nvPr>
        </p:nvSpPr>
        <p:spPr>
          <a:xfrm>
            <a:off x="8049731" y="4873761"/>
            <a:ext cx="3452445" cy="1344921"/>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400"/>
              <a:buNone/>
              <a:defRPr sz="1400"/>
            </a:lvl1pPr>
            <a:lvl2pPr indent="-228600" lvl="1" marL="914400" algn="l">
              <a:lnSpc>
                <a:spcPct val="90000"/>
              </a:lnSpc>
              <a:spcBef>
                <a:spcPts val="500"/>
              </a:spcBef>
              <a:spcAft>
                <a:spcPts val="0"/>
              </a:spcAft>
              <a:buClr>
                <a:schemeClr val="lt1"/>
              </a:buClr>
              <a:buSzPts val="1200"/>
              <a:buNone/>
              <a:defRPr sz="1200"/>
            </a:lvl2pPr>
            <a:lvl3pPr indent="-228600" lvl="2" marL="1371600" algn="l">
              <a:lnSpc>
                <a:spcPct val="90000"/>
              </a:lnSpc>
              <a:spcBef>
                <a:spcPts val="500"/>
              </a:spcBef>
              <a:spcAft>
                <a:spcPts val="0"/>
              </a:spcAft>
              <a:buClr>
                <a:schemeClr val="lt1"/>
              </a:buClr>
              <a:buSzPts val="1000"/>
              <a:buNone/>
              <a:defRPr sz="1000"/>
            </a:lvl3pPr>
            <a:lvl4pPr indent="-228600" lvl="3" marL="1828800" algn="l">
              <a:lnSpc>
                <a:spcPct val="90000"/>
              </a:lnSpc>
              <a:spcBef>
                <a:spcPts val="500"/>
              </a:spcBef>
              <a:spcAft>
                <a:spcPts val="0"/>
              </a:spcAft>
              <a:buClr>
                <a:schemeClr val="lt1"/>
              </a:buClr>
              <a:buSzPts val="900"/>
              <a:buNone/>
              <a:defRPr sz="900"/>
            </a:lvl4pPr>
            <a:lvl5pPr indent="-228600" lvl="4" marL="2286000" algn="l">
              <a:lnSpc>
                <a:spcPct val="90000"/>
              </a:lnSpc>
              <a:spcBef>
                <a:spcPts val="500"/>
              </a:spcBef>
              <a:spcAft>
                <a:spcPts val="0"/>
              </a:spcAft>
              <a:buClr>
                <a:schemeClr val="lt1"/>
              </a:buClr>
              <a:buSzPts val="900"/>
              <a:buNone/>
              <a:defRPr sz="900"/>
            </a:lvl5pPr>
            <a:lvl6pPr indent="-228600" lvl="5" marL="2743200" algn="l">
              <a:lnSpc>
                <a:spcPct val="90000"/>
              </a:lnSpc>
              <a:spcBef>
                <a:spcPts val="500"/>
              </a:spcBef>
              <a:spcAft>
                <a:spcPts val="0"/>
              </a:spcAft>
              <a:buClr>
                <a:schemeClr val="lt1"/>
              </a:buClr>
              <a:buSzPts val="900"/>
              <a:buNone/>
              <a:defRPr sz="900"/>
            </a:lvl6pPr>
            <a:lvl7pPr indent="-228600" lvl="6" marL="3200400" algn="l">
              <a:lnSpc>
                <a:spcPct val="90000"/>
              </a:lnSpc>
              <a:spcBef>
                <a:spcPts val="500"/>
              </a:spcBef>
              <a:spcAft>
                <a:spcPts val="0"/>
              </a:spcAft>
              <a:buClr>
                <a:schemeClr val="lt1"/>
              </a:buClr>
              <a:buSzPts val="900"/>
              <a:buNone/>
              <a:defRPr sz="900"/>
            </a:lvl7pPr>
            <a:lvl8pPr indent="-228600" lvl="7" marL="3657600" algn="l">
              <a:lnSpc>
                <a:spcPct val="90000"/>
              </a:lnSpc>
              <a:spcBef>
                <a:spcPts val="500"/>
              </a:spcBef>
              <a:spcAft>
                <a:spcPts val="0"/>
              </a:spcAft>
              <a:buClr>
                <a:schemeClr val="lt1"/>
              </a:buClr>
              <a:buSzPts val="900"/>
              <a:buNone/>
              <a:defRPr sz="900"/>
            </a:lvl8pPr>
            <a:lvl9pPr indent="-228600" lvl="8" marL="4114800" algn="l">
              <a:lnSpc>
                <a:spcPct val="90000"/>
              </a:lnSpc>
              <a:spcBef>
                <a:spcPts val="500"/>
              </a:spcBef>
              <a:spcAft>
                <a:spcPts val="0"/>
              </a:spcAft>
              <a:buClr>
                <a:schemeClr val="lt1"/>
              </a:buClr>
              <a:buSzPts val="900"/>
              <a:buNone/>
              <a:defRPr sz="900"/>
            </a:lvl9pPr>
          </a:lstStyle>
          <a:p/>
        </p:txBody>
      </p:sp>
      <p:sp>
        <p:nvSpPr>
          <p:cNvPr id="128" name="Google Shape;128;p31"/>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31"/>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31"/>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1" name="Shape 131"/>
        <p:cNvGrpSpPr/>
        <p:nvPr/>
      </p:nvGrpSpPr>
      <p:grpSpPr>
        <a:xfrm>
          <a:off x="0" y="0"/>
          <a:ext cx="0" cy="0"/>
          <a:chOff x="0" y="0"/>
          <a:chExt cx="0" cy="0"/>
        </a:xfrm>
      </p:grpSpPr>
      <p:sp>
        <p:nvSpPr>
          <p:cNvPr id="132" name="Google Shape;132;p32"/>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algn="r">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3" name="Google Shape;133;p32"/>
          <p:cNvSpPr txBox="1"/>
          <p:nvPr>
            <p:ph idx="1" type="body"/>
          </p:nvPr>
        </p:nvSpPr>
        <p:spPr>
          <a:xfrm rot="5400000">
            <a:off x="4083938" y="-1203579"/>
            <a:ext cx="4024125" cy="108204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34" name="Google Shape;134;p32"/>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32"/>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32"/>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137" name="Shape 137"/>
        <p:cNvGrpSpPr/>
        <p:nvPr/>
      </p:nvGrpSpPr>
      <p:grpSpPr>
        <a:xfrm>
          <a:off x="0" y="0"/>
          <a:ext cx="0" cy="0"/>
          <a:chOff x="0" y="0"/>
          <a:chExt cx="0" cy="0"/>
        </a:xfrm>
      </p:grpSpPr>
      <p:pic>
        <p:nvPicPr>
          <p:cNvPr descr="C0-HD-BTM.png" id="138" name="Google Shape;138;p33"/>
          <p:cNvPicPr preferRelativeResize="0"/>
          <p:nvPr/>
        </p:nvPicPr>
        <p:blipFill rotWithShape="1">
          <a:blip r:embed="rId2">
            <a:alphaModFix/>
          </a:blip>
          <a:srcRect b="0" l="0" r="0" t="0"/>
          <a:stretch/>
        </p:blipFill>
        <p:spPr>
          <a:xfrm>
            <a:off x="0" y="4375150"/>
            <a:ext cx="12192000" cy="2482850"/>
          </a:xfrm>
          <a:prstGeom prst="rect">
            <a:avLst/>
          </a:prstGeom>
          <a:noFill/>
          <a:ln>
            <a:noFill/>
          </a:ln>
        </p:spPr>
      </p:pic>
      <p:sp>
        <p:nvSpPr>
          <p:cNvPr id="139" name="Google Shape;139;p33"/>
          <p:cNvSpPr txBox="1"/>
          <p:nvPr>
            <p:ph type="title"/>
          </p:nvPr>
        </p:nvSpPr>
        <p:spPr>
          <a:xfrm rot="5400000">
            <a:off x="8525934" y="1667933"/>
            <a:ext cx="3903133" cy="20574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0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0" name="Google Shape;140;p33"/>
          <p:cNvSpPr txBox="1"/>
          <p:nvPr>
            <p:ph idx="1" type="body"/>
          </p:nvPr>
        </p:nvSpPr>
        <p:spPr>
          <a:xfrm rot="5400000">
            <a:off x="3175000" y="-1405467"/>
            <a:ext cx="3903133" cy="820420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41" name="Google Shape;141;p33"/>
          <p:cNvSpPr txBox="1"/>
          <p:nvPr>
            <p:ph idx="10" type="dt"/>
          </p:nvPr>
        </p:nvSpPr>
        <p:spPr>
          <a:xfrm>
            <a:off x="7814452" y="379941"/>
            <a:ext cx="291084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33"/>
          <p:cNvSpPr txBox="1"/>
          <p:nvPr>
            <p:ph idx="11" type="ftr"/>
          </p:nvPr>
        </p:nvSpPr>
        <p:spPr>
          <a:xfrm>
            <a:off x="685800" y="381000"/>
            <a:ext cx="699149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33"/>
          <p:cNvSpPr txBox="1"/>
          <p:nvPr>
            <p:ph idx="12" type="sldNum"/>
          </p:nvPr>
        </p:nvSpPr>
        <p:spPr>
          <a:xfrm>
            <a:off x="10862452" y="381000"/>
            <a:ext cx="64374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1.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 name="Shape 9"/>
        <p:cNvGrpSpPr/>
        <p:nvPr/>
      </p:nvGrpSpPr>
      <p:grpSpPr>
        <a:xfrm>
          <a:off x="0" y="0"/>
          <a:ext cx="0" cy="0"/>
          <a:chOff x="0" y="0"/>
          <a:chExt cx="0" cy="0"/>
        </a:xfrm>
      </p:grpSpPr>
      <p:pic>
        <p:nvPicPr>
          <p:cNvPr descr="C0-HD-TOP.png" id="10" name="Google Shape;10;p16"/>
          <p:cNvPicPr preferRelativeResize="0"/>
          <p:nvPr/>
        </p:nvPicPr>
        <p:blipFill rotWithShape="1">
          <a:blip r:embed="rId1">
            <a:alphaModFix/>
          </a:blip>
          <a:srcRect b="0" l="0" r="0" t="0"/>
          <a:stretch/>
        </p:blipFill>
        <p:spPr>
          <a:xfrm>
            <a:off x="0" y="0"/>
            <a:ext cx="12192000" cy="1441450"/>
          </a:xfrm>
          <a:prstGeom prst="rect">
            <a:avLst/>
          </a:prstGeom>
          <a:noFill/>
          <a:ln>
            <a:noFill/>
          </a:ln>
        </p:spPr>
      </p:pic>
      <p:sp>
        <p:nvSpPr>
          <p:cNvPr id="11" name="Google Shape;11;p16"/>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lvl1pPr lvl="0" marR="0" rtl="0" algn="r">
              <a:lnSpc>
                <a:spcPct val="90000"/>
              </a:lnSpc>
              <a:spcBef>
                <a:spcPts val="0"/>
              </a:spcBef>
              <a:spcAft>
                <a:spcPts val="0"/>
              </a:spcAft>
              <a:buClr>
                <a:schemeClr val="lt1"/>
              </a:buClr>
              <a:buSzPts val="4000"/>
              <a:buFont typeface="Century Gothic"/>
              <a:buNone/>
              <a:defRPr b="0" i="0" sz="4000" u="none" cap="none" strike="noStrike">
                <a:solidFill>
                  <a:schemeClr val="lt1"/>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16"/>
          <p:cNvSpPr txBox="1"/>
          <p:nvPr>
            <p:ph idx="1" type="body"/>
          </p:nvPr>
        </p:nvSpPr>
        <p:spPr>
          <a:xfrm>
            <a:off x="685800" y="2194560"/>
            <a:ext cx="10820400" cy="4024125"/>
          </a:xfrm>
          <a:prstGeom prst="rect">
            <a:avLst/>
          </a:prstGeom>
          <a:noFill/>
          <a:ln>
            <a:noFill/>
          </a:ln>
        </p:spPr>
        <p:txBody>
          <a:bodyPr anchorCtr="0" anchor="t" bIns="45700" lIns="91425" spcFirstLastPara="1" rIns="91425" wrap="square" tIns="45700">
            <a:normAutofit/>
          </a:bodyPr>
          <a:lstStyle>
            <a:lvl1pPr indent="-368300" lvl="0" marL="457200" marR="0" rtl="0" algn="l">
              <a:lnSpc>
                <a:spcPct val="90000"/>
              </a:lnSpc>
              <a:spcBef>
                <a:spcPts val="1000"/>
              </a:spcBef>
              <a:spcAft>
                <a:spcPts val="0"/>
              </a:spcAft>
              <a:buClr>
                <a:schemeClr val="lt1"/>
              </a:buClr>
              <a:buSzPts val="2200"/>
              <a:buFont typeface="Arial"/>
              <a:buChar char="•"/>
              <a:defRPr b="0" i="0" sz="2200" u="none" cap="none" strike="noStrike">
                <a:solidFill>
                  <a:schemeClr val="lt1"/>
                </a:solidFill>
                <a:latin typeface="Century Gothic"/>
                <a:ea typeface="Century Gothic"/>
                <a:cs typeface="Century Gothic"/>
                <a:sym typeface="Century Gothic"/>
              </a:defRPr>
            </a:lvl1pPr>
            <a:lvl2pPr indent="-355600" lvl="1" marL="9144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Century Gothic"/>
                <a:ea typeface="Century Gothic"/>
                <a:cs typeface="Century Gothic"/>
                <a:sym typeface="Century Gothic"/>
              </a:defRPr>
            </a:lvl2pPr>
            <a:lvl3pPr indent="-342900" lvl="2" marL="1371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Century Gothic"/>
                <a:ea typeface="Century Gothic"/>
                <a:cs typeface="Century Gothic"/>
                <a:sym typeface="Century Gothic"/>
              </a:defRPr>
            </a:lvl3pPr>
            <a:lvl4pPr indent="-330200" lvl="3" marL="18288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4pPr>
            <a:lvl5pPr indent="-330200" lvl="4" marL="22860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5pPr>
            <a:lvl6pPr indent="-330200" lvl="5" marL="27432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6pPr>
            <a:lvl7pPr indent="-330200" lvl="6" marL="32004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7pPr>
            <a:lvl8pPr indent="-330200" lvl="7" marL="36576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8pPr>
            <a:lvl9pPr indent="-330200" lvl="8" marL="4114800" marR="0" rtl="0" algn="l">
              <a:lnSpc>
                <a:spcPct val="90000"/>
              </a:lnSpc>
              <a:spcBef>
                <a:spcPts val="500"/>
              </a:spcBef>
              <a:spcAft>
                <a:spcPts val="0"/>
              </a:spcAft>
              <a:buClr>
                <a:schemeClr val="lt1"/>
              </a:buClr>
              <a:buSzPts val="1600"/>
              <a:buFont typeface="Arial"/>
              <a:buChar char="•"/>
              <a:defRPr b="0" i="0" sz="1600" u="none" cap="none" strike="noStrike">
                <a:solidFill>
                  <a:schemeClr val="lt1"/>
                </a:solidFill>
                <a:latin typeface="Century Gothic"/>
                <a:ea typeface="Century Gothic"/>
                <a:cs typeface="Century Gothic"/>
                <a:sym typeface="Century Gothic"/>
              </a:defRPr>
            </a:lvl9pPr>
          </a:lstStyle>
          <a:p/>
        </p:txBody>
      </p:sp>
      <p:sp>
        <p:nvSpPr>
          <p:cNvPr id="13" name="Google Shape;13;p16"/>
          <p:cNvSpPr txBox="1"/>
          <p:nvPr>
            <p:ph idx="10" type="dt"/>
          </p:nvPr>
        </p:nvSpPr>
        <p:spPr>
          <a:xfrm>
            <a:off x="8595360" y="6356350"/>
            <a:ext cx="291084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50" u="none" cap="none" strike="noStrike">
                <a:solidFill>
                  <a:schemeClr val="lt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14" name="Google Shape;14;p16"/>
          <p:cNvSpPr txBox="1"/>
          <p:nvPr>
            <p:ph idx="11" type="ftr"/>
          </p:nvPr>
        </p:nvSpPr>
        <p:spPr>
          <a:xfrm>
            <a:off x="685800" y="6355845"/>
            <a:ext cx="77724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50" u="none" cap="none" strike="noStrike">
                <a:solidFill>
                  <a:schemeClr val="lt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lt1"/>
                </a:solidFill>
                <a:latin typeface="Century Gothic"/>
                <a:ea typeface="Century Gothic"/>
                <a:cs typeface="Century Gothic"/>
                <a:sym typeface="Century Gothic"/>
              </a:defRPr>
            </a:lvl9pPr>
          </a:lstStyle>
          <a:p/>
        </p:txBody>
      </p:sp>
      <p:sp>
        <p:nvSpPr>
          <p:cNvPr id="15" name="Google Shape;15;p16"/>
          <p:cNvSpPr txBox="1"/>
          <p:nvPr>
            <p:ph idx="12" type="sldNum"/>
          </p:nvPr>
        </p:nvSpPr>
        <p:spPr>
          <a:xfrm>
            <a:off x="8763000" y="38100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050" u="none" cap="none" strike="noStrike">
                <a:solidFill>
                  <a:schemeClr val="lt1"/>
                </a:solidFill>
                <a:latin typeface="Century Gothic"/>
                <a:ea typeface="Century Gothic"/>
                <a:cs typeface="Century Gothic"/>
                <a:sym typeface="Century Gothic"/>
              </a:defRPr>
            </a:lvl1pPr>
            <a:lvl2pPr indent="0" lvl="1" marL="0" marR="0" rtl="0" algn="r">
              <a:spcBef>
                <a:spcPts val="0"/>
              </a:spcBef>
              <a:buNone/>
              <a:defRPr b="0" i="0" sz="1050" u="none" cap="none" strike="noStrike">
                <a:solidFill>
                  <a:schemeClr val="lt1"/>
                </a:solidFill>
                <a:latin typeface="Century Gothic"/>
                <a:ea typeface="Century Gothic"/>
                <a:cs typeface="Century Gothic"/>
                <a:sym typeface="Century Gothic"/>
              </a:defRPr>
            </a:lvl2pPr>
            <a:lvl3pPr indent="0" lvl="2" marL="0" marR="0" rtl="0" algn="r">
              <a:spcBef>
                <a:spcPts val="0"/>
              </a:spcBef>
              <a:buNone/>
              <a:defRPr b="0" i="0" sz="1050" u="none" cap="none" strike="noStrike">
                <a:solidFill>
                  <a:schemeClr val="lt1"/>
                </a:solidFill>
                <a:latin typeface="Century Gothic"/>
                <a:ea typeface="Century Gothic"/>
                <a:cs typeface="Century Gothic"/>
                <a:sym typeface="Century Gothic"/>
              </a:defRPr>
            </a:lvl3pPr>
            <a:lvl4pPr indent="0" lvl="3" marL="0" marR="0" rtl="0" algn="r">
              <a:spcBef>
                <a:spcPts val="0"/>
              </a:spcBef>
              <a:buNone/>
              <a:defRPr b="0" i="0" sz="1050" u="none" cap="none" strike="noStrike">
                <a:solidFill>
                  <a:schemeClr val="lt1"/>
                </a:solidFill>
                <a:latin typeface="Century Gothic"/>
                <a:ea typeface="Century Gothic"/>
                <a:cs typeface="Century Gothic"/>
                <a:sym typeface="Century Gothic"/>
              </a:defRPr>
            </a:lvl4pPr>
            <a:lvl5pPr indent="0" lvl="4" marL="0" marR="0" rtl="0" algn="r">
              <a:spcBef>
                <a:spcPts val="0"/>
              </a:spcBef>
              <a:buNone/>
              <a:defRPr b="0" i="0" sz="1050" u="none" cap="none" strike="noStrike">
                <a:solidFill>
                  <a:schemeClr val="lt1"/>
                </a:solidFill>
                <a:latin typeface="Century Gothic"/>
                <a:ea typeface="Century Gothic"/>
                <a:cs typeface="Century Gothic"/>
                <a:sym typeface="Century Gothic"/>
              </a:defRPr>
            </a:lvl5pPr>
            <a:lvl6pPr indent="0" lvl="5" marL="0" marR="0" rtl="0" algn="r">
              <a:spcBef>
                <a:spcPts val="0"/>
              </a:spcBef>
              <a:buNone/>
              <a:defRPr b="0" i="0" sz="1050" u="none" cap="none" strike="noStrike">
                <a:solidFill>
                  <a:schemeClr val="lt1"/>
                </a:solidFill>
                <a:latin typeface="Century Gothic"/>
                <a:ea typeface="Century Gothic"/>
                <a:cs typeface="Century Gothic"/>
                <a:sym typeface="Century Gothic"/>
              </a:defRPr>
            </a:lvl6pPr>
            <a:lvl7pPr indent="0" lvl="6" marL="0" marR="0" rtl="0" algn="r">
              <a:spcBef>
                <a:spcPts val="0"/>
              </a:spcBef>
              <a:buNone/>
              <a:defRPr b="0" i="0" sz="1050" u="none" cap="none" strike="noStrike">
                <a:solidFill>
                  <a:schemeClr val="lt1"/>
                </a:solidFill>
                <a:latin typeface="Century Gothic"/>
                <a:ea typeface="Century Gothic"/>
                <a:cs typeface="Century Gothic"/>
                <a:sym typeface="Century Gothic"/>
              </a:defRPr>
            </a:lvl7pPr>
            <a:lvl8pPr indent="0" lvl="7" marL="0" marR="0" rtl="0" algn="r">
              <a:spcBef>
                <a:spcPts val="0"/>
              </a:spcBef>
              <a:buNone/>
              <a:defRPr b="0" i="0" sz="1050" u="none" cap="none" strike="noStrike">
                <a:solidFill>
                  <a:schemeClr val="lt1"/>
                </a:solidFill>
                <a:latin typeface="Century Gothic"/>
                <a:ea typeface="Century Gothic"/>
                <a:cs typeface="Century Gothic"/>
                <a:sym typeface="Century Gothic"/>
              </a:defRPr>
            </a:lvl8pPr>
            <a:lvl9pPr indent="0" lvl="8" marL="0" marR="0" rtl="0" algn="r">
              <a:spcBef>
                <a:spcPts val="0"/>
              </a:spcBef>
              <a:buNone/>
              <a:defRPr b="0" i="0" sz="105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chart" Target="../charts/char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chart" Target="../charts/char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chart" Target="../charts/char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chart" Target="../charts/char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chart" Target="../charts/char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chart" Target="../charts/char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
          <p:cNvSpPr txBox="1"/>
          <p:nvPr>
            <p:ph type="ctrTitle"/>
          </p:nvPr>
        </p:nvSpPr>
        <p:spPr>
          <a:xfrm>
            <a:off x="729343" y="761996"/>
            <a:ext cx="5954481" cy="354511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7200"/>
              <a:buFont typeface="Arial Rounded"/>
              <a:buNone/>
            </a:pPr>
            <a:r>
              <a:rPr b="1" lang="en-US" sz="7200">
                <a:latin typeface="Arial Rounded"/>
                <a:ea typeface="Arial Rounded"/>
                <a:cs typeface="Arial Rounded"/>
                <a:sym typeface="Arial Rounded"/>
              </a:rPr>
              <a:t>FINANCIAL ANALYSIS</a:t>
            </a:r>
            <a:br>
              <a:rPr b="1" lang="en-US" sz="7200">
                <a:latin typeface="Arial Rounded"/>
                <a:ea typeface="Arial Rounded"/>
                <a:cs typeface="Arial Rounded"/>
                <a:sym typeface="Arial Rounded"/>
              </a:rPr>
            </a:br>
            <a:r>
              <a:rPr b="1" lang="en-US" sz="7200">
                <a:latin typeface="Arial Rounded"/>
                <a:ea typeface="Arial Rounded"/>
                <a:cs typeface="Arial Rounded"/>
                <a:sym typeface="Arial Rounded"/>
              </a:rPr>
              <a:t>REPORT</a:t>
            </a:r>
            <a:endParaRPr/>
          </a:p>
        </p:txBody>
      </p:sp>
      <p:sp>
        <p:nvSpPr>
          <p:cNvPr id="149" name="Google Shape;149;p1"/>
          <p:cNvSpPr txBox="1"/>
          <p:nvPr>
            <p:ph idx="1" type="subTitle"/>
          </p:nvPr>
        </p:nvSpPr>
        <p:spPr>
          <a:xfrm>
            <a:off x="816431" y="4307116"/>
            <a:ext cx="2394859" cy="6858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2000"/>
              <a:buNone/>
            </a:pPr>
            <a:r>
              <a:rPr lang="en-US"/>
              <a:t>BY MOSES MUIGA</a:t>
            </a:r>
            <a:endParaRPr/>
          </a:p>
          <a:p>
            <a:pPr indent="0" lvl="0" marL="0" rtl="0" algn="l">
              <a:lnSpc>
                <a:spcPct val="90000"/>
              </a:lnSpc>
              <a:spcBef>
                <a:spcPts val="1000"/>
              </a:spcBef>
              <a:spcAft>
                <a:spcPts val="0"/>
              </a:spcAft>
              <a:buClr>
                <a:schemeClr val="lt1"/>
              </a:buClr>
              <a:buSzPts val="20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
          <p:cNvSpPr txBox="1"/>
          <p:nvPr>
            <p:ph type="title"/>
          </p:nvPr>
        </p:nvSpPr>
        <p:spPr>
          <a:xfrm>
            <a:off x="3548740" y="500743"/>
            <a:ext cx="8610603" cy="1293025"/>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Clr>
                <a:schemeClr val="lt1"/>
              </a:buClr>
              <a:buSzPts val="6000"/>
              <a:buFont typeface="Arial Rounded"/>
              <a:buNone/>
            </a:pPr>
            <a:r>
              <a:rPr b="1" lang="en-US" sz="6000">
                <a:latin typeface="Arial Rounded"/>
                <a:ea typeface="Arial Rounded"/>
                <a:cs typeface="Arial Rounded"/>
                <a:sym typeface="Arial Rounded"/>
              </a:rPr>
              <a:t>BUSINESS UNDERSTANDING</a:t>
            </a:r>
            <a:endParaRPr/>
          </a:p>
        </p:txBody>
      </p:sp>
      <p:sp>
        <p:nvSpPr>
          <p:cNvPr id="155" name="Google Shape;155;p2"/>
          <p:cNvSpPr txBox="1"/>
          <p:nvPr>
            <p:ph idx="1" type="body"/>
          </p:nvPr>
        </p:nvSpPr>
        <p:spPr>
          <a:xfrm>
            <a:off x="97968" y="2514600"/>
            <a:ext cx="11277596" cy="415882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2200"/>
              <a:buNone/>
            </a:pPr>
            <a:r>
              <a:rPr lang="en-US"/>
              <a:t>The organization seeks to improve its budget performance and identify c</a:t>
            </a:r>
            <a:endParaRPr/>
          </a:p>
          <a:p>
            <a:pPr indent="0" lvl="0" marL="0" rtl="0" algn="l">
              <a:lnSpc>
                <a:spcPct val="90000"/>
              </a:lnSpc>
              <a:spcBef>
                <a:spcPts val="0"/>
              </a:spcBef>
              <a:spcAft>
                <a:spcPts val="0"/>
              </a:spcAft>
              <a:buClr>
                <a:schemeClr val="lt1"/>
              </a:buClr>
              <a:buSzPts val="2200"/>
              <a:buNone/>
            </a:pPr>
            <a:r>
              <a:rPr lang="en-US"/>
              <a:t>ost-saving opportunities by analyzing its financial data. Currently, financial reporting lacks sufficient detail to highlight which product categories and regions contribute most to revenue and profit, and where expenses may be disproportionately high.</a:t>
            </a:r>
            <a:endParaRPr/>
          </a:p>
          <a:p>
            <a:pPr indent="0" lvl="0" marL="0" rtl="0" algn="l">
              <a:lnSpc>
                <a:spcPct val="90000"/>
              </a:lnSpc>
              <a:spcBef>
                <a:spcPts val="1000"/>
              </a:spcBef>
              <a:spcAft>
                <a:spcPts val="0"/>
              </a:spcAft>
              <a:buClr>
                <a:schemeClr val="lt1"/>
              </a:buClr>
              <a:buSzPts val="2200"/>
              <a:buNone/>
            </a:pPr>
            <a:r>
              <a:rPr lang="en-US"/>
              <a:t>This project aims to systematically track and analyze revenue, expenses, and profit across product categories and regions. By leveraging the financial dataset, the analysis will uncover patterns, highlight inefficiencies, and provide actionable recommendations.</a:t>
            </a:r>
            <a:endParaRPr/>
          </a:p>
        </p:txBody>
      </p:sp>
      <p:sp>
        <p:nvSpPr>
          <p:cNvPr id="156" name="Google Shape;156;p2"/>
          <p:cNvSpPr txBox="1"/>
          <p:nvPr/>
        </p:nvSpPr>
        <p:spPr>
          <a:xfrm>
            <a:off x="128765" y="1793769"/>
            <a:ext cx="3419974" cy="584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3200"/>
              <a:buFont typeface="ADLaM Display"/>
              <a:buNone/>
            </a:pPr>
            <a:r>
              <a:rPr b="0" i="0" lang="en-US" sz="3200" u="none" cap="none" strike="noStrike">
                <a:solidFill>
                  <a:srgbClr val="FFFFFF"/>
                </a:solidFill>
                <a:latin typeface="ADLaM Display"/>
                <a:ea typeface="ADLaM Display"/>
                <a:cs typeface="ADLaM Display"/>
                <a:sym typeface="ADLaM Display"/>
              </a:rPr>
              <a:t>Problem Statement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
          <p:cNvSpPr txBox="1"/>
          <p:nvPr>
            <p:ph type="title"/>
          </p:nvPr>
        </p:nvSpPr>
        <p:spPr>
          <a:xfrm>
            <a:off x="3581403" y="480590"/>
            <a:ext cx="8610603" cy="1293025"/>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Clr>
                <a:schemeClr val="lt1"/>
              </a:buClr>
              <a:buSzPts val="6000"/>
              <a:buFont typeface="Arial Rounded"/>
              <a:buNone/>
            </a:pPr>
            <a:r>
              <a:rPr b="1" lang="en-US" sz="6000">
                <a:latin typeface="Arial Rounded"/>
                <a:ea typeface="Arial Rounded"/>
                <a:cs typeface="Arial Rounded"/>
                <a:sym typeface="Arial Rounded"/>
              </a:rPr>
              <a:t>BUSINESS</a:t>
            </a:r>
            <a:br>
              <a:rPr b="1" lang="en-US" sz="6000">
                <a:latin typeface="Arial Rounded"/>
                <a:ea typeface="Arial Rounded"/>
                <a:cs typeface="Arial Rounded"/>
                <a:sym typeface="Arial Rounded"/>
              </a:rPr>
            </a:br>
            <a:r>
              <a:rPr b="1" lang="en-US" sz="6000">
                <a:latin typeface="Arial Rounded"/>
                <a:ea typeface="Arial Rounded"/>
                <a:cs typeface="Arial Rounded"/>
                <a:sym typeface="Arial Rounded"/>
              </a:rPr>
              <a:t>UNDERSTANDING </a:t>
            </a:r>
            <a:endParaRPr/>
          </a:p>
        </p:txBody>
      </p:sp>
      <p:sp>
        <p:nvSpPr>
          <p:cNvPr id="162" name="Google Shape;162;p3"/>
          <p:cNvSpPr txBox="1"/>
          <p:nvPr>
            <p:ph idx="1" type="body"/>
          </p:nvPr>
        </p:nvSpPr>
        <p:spPr>
          <a:xfrm>
            <a:off x="204360" y="2646502"/>
            <a:ext cx="10820400" cy="4024200"/>
          </a:xfrm>
          <a:prstGeom prst="rect">
            <a:avLst/>
          </a:prstGeom>
          <a:noFill/>
          <a:ln>
            <a:noFill/>
          </a:ln>
        </p:spPr>
        <p:txBody>
          <a:bodyPr anchorCtr="0" anchor="t" bIns="45700" lIns="91425" spcFirstLastPara="1" rIns="91425" wrap="square" tIns="45700">
            <a:normAutofit/>
          </a:bodyPr>
          <a:lstStyle/>
          <a:p>
            <a:pPr indent="-457200" lvl="0" marL="457200" rtl="0" algn="l">
              <a:lnSpc>
                <a:spcPct val="90000"/>
              </a:lnSpc>
              <a:spcBef>
                <a:spcPts val="0"/>
              </a:spcBef>
              <a:spcAft>
                <a:spcPts val="0"/>
              </a:spcAft>
              <a:buClr>
                <a:schemeClr val="lt1"/>
              </a:buClr>
              <a:buSzPts val="2200"/>
              <a:buAutoNum type="arabicPeriod"/>
            </a:pPr>
            <a:r>
              <a:rPr lang="en-US"/>
              <a:t>Track revenue, expenses, and profit across product categories and regions.</a:t>
            </a:r>
            <a:endParaRPr/>
          </a:p>
          <a:p>
            <a:pPr indent="-457200" lvl="0" marL="457200" rtl="0" algn="l">
              <a:lnSpc>
                <a:spcPct val="90000"/>
              </a:lnSpc>
              <a:spcBef>
                <a:spcPts val="1000"/>
              </a:spcBef>
              <a:spcAft>
                <a:spcPts val="0"/>
              </a:spcAft>
              <a:buClr>
                <a:schemeClr val="lt1"/>
              </a:buClr>
              <a:buSzPts val="2200"/>
              <a:buAutoNum type="arabicPeriod"/>
            </a:pPr>
            <a:r>
              <a:rPr lang="en-US"/>
              <a:t>Identify high – cost of goods sold  and recommend  optimizations</a:t>
            </a:r>
            <a:endParaRPr/>
          </a:p>
          <a:p>
            <a:pPr indent="-457200" lvl="0" marL="457200" rtl="0" algn="l">
              <a:lnSpc>
                <a:spcPct val="90000"/>
              </a:lnSpc>
              <a:spcBef>
                <a:spcPts val="1000"/>
              </a:spcBef>
              <a:spcAft>
                <a:spcPts val="0"/>
              </a:spcAft>
              <a:buClr>
                <a:schemeClr val="lt1"/>
              </a:buClr>
              <a:buSzPts val="2200"/>
              <a:buAutoNum type="arabicPeriod"/>
            </a:pPr>
            <a:r>
              <a:rPr lang="en-US"/>
              <a:t>Highlight top performing products and regions for future investments.</a:t>
            </a:r>
            <a:endParaRPr/>
          </a:p>
          <a:p>
            <a:pPr indent="-457200" lvl="0" marL="457200" rtl="0" algn="l">
              <a:lnSpc>
                <a:spcPct val="90000"/>
              </a:lnSpc>
              <a:spcBef>
                <a:spcPts val="1000"/>
              </a:spcBef>
              <a:spcAft>
                <a:spcPts val="0"/>
              </a:spcAft>
              <a:buClr>
                <a:schemeClr val="lt1"/>
              </a:buClr>
              <a:buSzPts val="2200"/>
              <a:buAutoNum type="arabicPeriod"/>
            </a:pPr>
            <a:r>
              <a:rPr lang="en-US"/>
              <a:t>Provide actionable budget allocation insights</a:t>
            </a:r>
            <a:endParaRPr/>
          </a:p>
          <a:p>
            <a:pPr indent="0" lvl="0" marL="0" rtl="0" algn="l">
              <a:lnSpc>
                <a:spcPct val="90000"/>
              </a:lnSpc>
              <a:spcBef>
                <a:spcPts val="1000"/>
              </a:spcBef>
              <a:spcAft>
                <a:spcPts val="0"/>
              </a:spcAft>
              <a:buClr>
                <a:schemeClr val="lt1"/>
              </a:buClr>
              <a:buSzPts val="2200"/>
              <a:buNone/>
            </a:pPr>
            <a:r>
              <a:t/>
            </a:r>
            <a:endParaRPr/>
          </a:p>
        </p:txBody>
      </p:sp>
      <p:sp>
        <p:nvSpPr>
          <p:cNvPr id="163" name="Google Shape;163;p3"/>
          <p:cNvSpPr txBox="1"/>
          <p:nvPr/>
        </p:nvSpPr>
        <p:spPr>
          <a:xfrm>
            <a:off x="423038" y="2081046"/>
            <a:ext cx="1491112" cy="64633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entury Gothic"/>
              <a:buNone/>
            </a:pPr>
            <a:r>
              <a:rPr b="0" i="0" lang="en-US" sz="1800" u="none" cap="none" strike="noStrike">
                <a:solidFill>
                  <a:srgbClr val="FFFFFF"/>
                </a:solidFill>
                <a:latin typeface="Century Gothic"/>
                <a:ea typeface="Century Gothic"/>
                <a:cs typeface="Century Gothic"/>
                <a:sym typeface="Century Gothic"/>
              </a:rPr>
              <a:t>OBJECTIVES</a:t>
            </a:r>
            <a:endParaRPr/>
          </a:p>
          <a:p>
            <a:pPr indent="0" lvl="0" marL="0" marR="0" rtl="0" algn="l">
              <a:lnSpc>
                <a:spcPct val="100000"/>
              </a:lnSpc>
              <a:spcBef>
                <a:spcPts val="0"/>
              </a:spcBef>
              <a:spcAft>
                <a:spcPts val="0"/>
              </a:spcAft>
              <a:buClr>
                <a:srgbClr val="000000"/>
              </a:buClr>
              <a:buSzPts val="1800"/>
              <a:buFont typeface="Century Gothic"/>
              <a:buNone/>
            </a:pPr>
            <a:r>
              <a:t/>
            </a:r>
            <a:endParaRPr b="0" i="0" sz="1800" u="none" cap="none" strike="noStrike">
              <a:solidFill>
                <a:srgbClr val="FFFFFF"/>
              </a:solidFill>
              <a:latin typeface="Century Gothic"/>
              <a:ea typeface="Century Gothic"/>
              <a:cs typeface="Century Gothic"/>
              <a:sym typeface="Century Gothic"/>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4"/>
          <p:cNvSpPr txBox="1"/>
          <p:nvPr>
            <p:ph type="title"/>
          </p:nvPr>
        </p:nvSpPr>
        <p:spPr>
          <a:xfrm>
            <a:off x="3581397" y="606718"/>
            <a:ext cx="8610603" cy="1293025"/>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Clr>
                <a:schemeClr val="lt1"/>
              </a:buClr>
              <a:buSzPts val="6000"/>
              <a:buFont typeface="Arial Rounded"/>
              <a:buNone/>
            </a:pPr>
            <a:r>
              <a:rPr b="1" lang="en-US" sz="6000">
                <a:latin typeface="Arial Rounded"/>
                <a:ea typeface="Arial Rounded"/>
                <a:cs typeface="Arial Rounded"/>
                <a:sym typeface="Arial Rounded"/>
              </a:rPr>
              <a:t>DATA </a:t>
            </a:r>
            <a:br>
              <a:rPr b="1" lang="en-US" sz="6000">
                <a:latin typeface="Arial Rounded"/>
                <a:ea typeface="Arial Rounded"/>
                <a:cs typeface="Arial Rounded"/>
                <a:sym typeface="Arial Rounded"/>
              </a:rPr>
            </a:br>
            <a:r>
              <a:rPr b="1" lang="en-US" sz="6000">
                <a:latin typeface="Arial Rounded"/>
                <a:ea typeface="Arial Rounded"/>
                <a:cs typeface="Arial Rounded"/>
                <a:sym typeface="Arial Rounded"/>
              </a:rPr>
              <a:t>UNDERSTANDING  </a:t>
            </a:r>
            <a:endParaRPr sz="6000"/>
          </a:p>
        </p:txBody>
      </p:sp>
      <p:sp>
        <p:nvSpPr>
          <p:cNvPr id="169" name="Google Shape;169;p4"/>
          <p:cNvSpPr txBox="1"/>
          <p:nvPr>
            <p:ph idx="1" type="body"/>
          </p:nvPr>
        </p:nvSpPr>
        <p:spPr>
          <a:xfrm>
            <a:off x="780393" y="2657015"/>
            <a:ext cx="10820396" cy="402412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2200"/>
              <a:buNone/>
            </a:pPr>
            <a:r>
              <a:rPr lang="en-US"/>
              <a:t>This dataset contains data on the products, the different segments and countries that use the products and information on the COGS and units sold.</a:t>
            </a:r>
            <a:endParaRPr/>
          </a:p>
          <a:p>
            <a:pPr indent="0" lvl="0" marL="0" rtl="0" algn="l">
              <a:lnSpc>
                <a:spcPct val="90000"/>
              </a:lnSpc>
              <a:spcBef>
                <a:spcPts val="1000"/>
              </a:spcBef>
              <a:spcAft>
                <a:spcPts val="0"/>
              </a:spcAft>
              <a:buClr>
                <a:schemeClr val="lt1"/>
              </a:buClr>
              <a:buSzPts val="2200"/>
              <a:buNone/>
            </a:pPr>
            <a:r>
              <a:rPr lang="en-US"/>
              <a:t>It has a total  of 701 rows and 16 columns.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5"/>
          <p:cNvSpPr txBox="1"/>
          <p:nvPr>
            <p:ph type="title"/>
          </p:nvPr>
        </p:nvSpPr>
        <p:spPr>
          <a:xfrm>
            <a:off x="2165131" y="764372"/>
            <a:ext cx="9616965" cy="3187517"/>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Clr>
                <a:schemeClr val="lt1"/>
              </a:buClr>
              <a:buSzPts val="8000"/>
              <a:buFont typeface="ADLaM Display"/>
              <a:buNone/>
            </a:pPr>
            <a:r>
              <a:rPr lang="en-US" sz="8000">
                <a:latin typeface="ADLaM Display"/>
                <a:ea typeface="ADLaM Display"/>
                <a:cs typeface="ADLaM Display"/>
                <a:sym typeface="ADLaM Display"/>
              </a:rPr>
              <a:t>DATA</a:t>
            </a:r>
            <a:br>
              <a:rPr lang="en-US" sz="8000">
                <a:latin typeface="ADLaM Display"/>
                <a:ea typeface="ADLaM Display"/>
                <a:cs typeface="ADLaM Display"/>
                <a:sym typeface="ADLaM Display"/>
              </a:rPr>
            </a:br>
            <a:r>
              <a:rPr lang="en-US" sz="8000">
                <a:latin typeface="ADLaM Display"/>
                <a:ea typeface="ADLaM Display"/>
                <a:cs typeface="ADLaM Display"/>
                <a:sym typeface="ADLaM Display"/>
              </a:rPr>
              <a:t>ANALYSIS</a:t>
            </a:r>
            <a:br>
              <a:rPr lang="en-US" sz="8000">
                <a:latin typeface="ADLaM Display"/>
                <a:ea typeface="ADLaM Display"/>
                <a:cs typeface="ADLaM Display"/>
                <a:sym typeface="ADLaM Display"/>
              </a:rPr>
            </a:br>
            <a:endParaRPr sz="8000">
              <a:latin typeface="ADLaM Display"/>
              <a:ea typeface="ADLaM Display"/>
              <a:cs typeface="ADLaM Display"/>
              <a:sym typeface="ADLaM Display"/>
            </a:endParaRPr>
          </a:p>
        </p:txBody>
      </p:sp>
      <p:sp>
        <p:nvSpPr>
          <p:cNvPr id="175" name="Google Shape;175;p5"/>
          <p:cNvSpPr txBox="1"/>
          <p:nvPr>
            <p:ph idx="1" type="body"/>
          </p:nvPr>
        </p:nvSpPr>
        <p:spPr>
          <a:xfrm>
            <a:off x="685800" y="4456386"/>
            <a:ext cx="10820400" cy="1762299"/>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None/>
            </a:pPr>
            <a:r>
              <a:rPr b="1" lang="en-US" sz="4000">
                <a:latin typeface="Century Gothic"/>
                <a:ea typeface="Century Gothic"/>
                <a:cs typeface="Century Gothic"/>
                <a:sym typeface="Century Gothic"/>
              </a:rPr>
              <a:t>VISUALIZATIONS</a:t>
            </a:r>
            <a:endParaRPr b="1" sz="4000">
              <a:latin typeface="Century Gothic"/>
              <a:ea typeface="Century Gothic"/>
              <a:cs typeface="Century Gothic"/>
              <a:sym typeface="Century Gothic"/>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graphicFrame>
        <p:nvGraphicFramePr>
          <p:cNvPr id="180" name="Google Shape;180;p6"/>
          <p:cNvGraphicFramePr/>
          <p:nvPr/>
        </p:nvGraphicFramePr>
        <p:xfrm>
          <a:off x="515008" y="2117836"/>
          <a:ext cx="7304690" cy="4740164"/>
        </p:xfrm>
        <a:graphic>
          <a:graphicData uri="http://schemas.openxmlformats.org/drawingml/2006/chart">
            <c:chart r:id="rId3"/>
          </a:graphicData>
        </a:graphic>
      </p:graphicFrame>
      <p:graphicFrame>
        <p:nvGraphicFramePr>
          <p:cNvPr id="181" name="Google Shape;181;p6"/>
          <p:cNvGraphicFramePr/>
          <p:nvPr/>
        </p:nvGraphicFramePr>
        <p:xfrm>
          <a:off x="1581808" y="1410579"/>
          <a:ext cx="3000000" cy="3000000"/>
        </p:xfrm>
        <a:graphic>
          <a:graphicData uri="http://schemas.openxmlformats.org/drawingml/2006/table">
            <a:tbl>
              <a:tblPr>
                <a:noFill/>
                <a:tableStyleId>{B14E1C2A-1501-4656-B1C8-67FE28E2C0BB}</a:tableStyleId>
              </a:tblPr>
              <a:tblGrid>
                <a:gridCol w="5171100"/>
              </a:tblGrid>
              <a:tr h="429825">
                <a:tc>
                  <a:txBody>
                    <a:bodyPr/>
                    <a:lstStyle/>
                    <a:p>
                      <a:pPr indent="0" lvl="0" marL="0" marR="0" rtl="0" algn="ctr">
                        <a:spcBef>
                          <a:spcPts val="0"/>
                        </a:spcBef>
                        <a:spcAft>
                          <a:spcPts val="0"/>
                        </a:spcAft>
                        <a:buClr>
                          <a:schemeClr val="lt1"/>
                        </a:buClr>
                        <a:buSzPts val="1600"/>
                        <a:buFont typeface="Aharoni"/>
                        <a:buNone/>
                      </a:pPr>
                      <a:r>
                        <a:rPr lang="en-US" sz="1600" u="none" cap="none" strike="noStrike">
                          <a:latin typeface="Aharoni"/>
                          <a:ea typeface="Aharoni"/>
                          <a:cs typeface="Aharoni"/>
                          <a:sym typeface="Aharoni"/>
                        </a:rPr>
                        <a:t>UNITS SOLD IN COUNTRY BY SEGMENT</a:t>
                      </a:r>
                      <a:endParaRPr b="0" i="0" sz="1600" u="none" cap="none" strike="noStrike">
                        <a:solidFill>
                          <a:srgbClr val="000000"/>
                        </a:solidFill>
                        <a:latin typeface="Aharoni"/>
                        <a:ea typeface="Aharoni"/>
                        <a:cs typeface="Aharoni"/>
                        <a:sym typeface="Aharoni"/>
                      </a:endParaRPr>
                    </a:p>
                  </a:txBody>
                  <a:tcPr marT="6350" marB="0" marR="6350" marL="6350" anchor="ctr">
                    <a:solidFill>
                      <a:srgbClr val="7FE0CC"/>
                    </a:solidFill>
                  </a:tcPr>
                </a:tc>
              </a:tr>
            </a:tbl>
          </a:graphicData>
        </a:graphic>
      </p:graphicFrame>
      <p:sp>
        <p:nvSpPr>
          <p:cNvPr id="182" name="Google Shape;182;p6"/>
          <p:cNvSpPr txBox="1"/>
          <p:nvPr/>
        </p:nvSpPr>
        <p:spPr>
          <a:xfrm>
            <a:off x="8050923" y="1388462"/>
            <a:ext cx="3993931" cy="35394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chemeClr val="lt1"/>
                </a:solidFill>
                <a:latin typeface="Century Gothic"/>
                <a:ea typeface="Century Gothic"/>
                <a:cs typeface="Century Gothic"/>
                <a:sym typeface="Century Gothic"/>
              </a:rPr>
              <a:t>OBSERVATION</a:t>
            </a:r>
            <a:endParaRPr/>
          </a:p>
          <a:p>
            <a:pPr indent="0" lvl="0" marL="0" marR="0" rtl="0" algn="l">
              <a:spcBef>
                <a:spcPts val="0"/>
              </a:spcBef>
              <a:spcAft>
                <a:spcPts val="0"/>
              </a:spcAft>
              <a:buNone/>
            </a:pPr>
            <a:r>
              <a:rPr lang="en-US" sz="1800">
                <a:solidFill>
                  <a:schemeClr val="lt1"/>
                </a:solidFill>
                <a:latin typeface="Century Gothic"/>
                <a:ea typeface="Century Gothic"/>
                <a:cs typeface="Century Gothic"/>
                <a:sym typeface="Century Gothic"/>
              </a:rPr>
              <a:t>. </a:t>
            </a:r>
            <a:r>
              <a:rPr lang="en-US" sz="2000">
                <a:solidFill>
                  <a:schemeClr val="lt1"/>
                </a:solidFill>
                <a:latin typeface="Century Gothic"/>
                <a:ea typeface="Century Gothic"/>
                <a:cs typeface="Century Gothic"/>
                <a:sym typeface="Century Gothic"/>
              </a:rPr>
              <a:t>The United States of America and Canada have the highest total units sold, indicating stronger sales performance in these markets.</a:t>
            </a:r>
            <a:endParaRPr/>
          </a:p>
          <a:p>
            <a:pPr indent="0" lvl="0" marL="0" marR="0" rtl="0" algn="l">
              <a:spcBef>
                <a:spcPts val="0"/>
              </a:spcBef>
              <a:spcAft>
                <a:spcPts val="0"/>
              </a:spcAft>
              <a:buNone/>
            </a:pPr>
            <a:r>
              <a:t/>
            </a:r>
            <a:endParaRPr sz="2000">
              <a:solidFill>
                <a:schemeClr val="lt1"/>
              </a:solidFill>
              <a:latin typeface="Century Gothic"/>
              <a:ea typeface="Century Gothic"/>
              <a:cs typeface="Century Gothic"/>
              <a:sym typeface="Century Gothic"/>
            </a:endParaRPr>
          </a:p>
          <a:p>
            <a:pPr indent="0" lvl="0" marL="0" marR="0" rtl="0" algn="l">
              <a:spcBef>
                <a:spcPts val="0"/>
              </a:spcBef>
              <a:spcAft>
                <a:spcPts val="0"/>
              </a:spcAft>
              <a:buNone/>
            </a:pPr>
            <a:r>
              <a:rPr lang="en-US" sz="2000">
                <a:solidFill>
                  <a:schemeClr val="lt1"/>
                </a:solidFill>
                <a:latin typeface="Century Gothic"/>
                <a:ea typeface="Century Gothic"/>
                <a:cs typeface="Century Gothic"/>
                <a:sym typeface="Century Gothic"/>
              </a:rPr>
              <a:t>. The Midmarket and Government segments contribute the largest portions of total units sold.</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graphicFrame>
        <p:nvGraphicFramePr>
          <p:cNvPr id="187" name="Google Shape;187;p7"/>
          <p:cNvGraphicFramePr/>
          <p:nvPr/>
        </p:nvGraphicFramePr>
        <p:xfrm>
          <a:off x="231228" y="2070538"/>
          <a:ext cx="6936827" cy="4908331"/>
        </p:xfrm>
        <a:graphic>
          <a:graphicData uri="http://schemas.openxmlformats.org/drawingml/2006/chart">
            <c:chart r:id="rId3"/>
          </a:graphicData>
        </a:graphic>
      </p:graphicFrame>
      <p:graphicFrame>
        <p:nvGraphicFramePr>
          <p:cNvPr id="188" name="Google Shape;188;p7"/>
          <p:cNvGraphicFramePr/>
          <p:nvPr/>
        </p:nvGraphicFramePr>
        <p:xfrm>
          <a:off x="1471448" y="1723698"/>
          <a:ext cx="3000000" cy="3000000"/>
        </p:xfrm>
        <a:graphic>
          <a:graphicData uri="http://schemas.openxmlformats.org/drawingml/2006/table">
            <a:tbl>
              <a:tblPr>
                <a:noFill/>
                <a:tableStyleId>{B14E1C2A-1501-4656-B1C8-67FE28E2C0BB}</a:tableStyleId>
              </a:tblPr>
              <a:tblGrid>
                <a:gridCol w="4624550"/>
              </a:tblGrid>
              <a:tr h="346850">
                <a:tc>
                  <a:txBody>
                    <a:bodyPr/>
                    <a:lstStyle/>
                    <a:p>
                      <a:pPr indent="0" lvl="0" marL="0" marR="0" rtl="0" algn="ctr">
                        <a:spcBef>
                          <a:spcPts val="0"/>
                        </a:spcBef>
                        <a:spcAft>
                          <a:spcPts val="0"/>
                        </a:spcAft>
                        <a:buClr>
                          <a:schemeClr val="lt1"/>
                        </a:buClr>
                        <a:buSzPts val="1600"/>
                        <a:buFont typeface="Aharoni"/>
                        <a:buNone/>
                      </a:pPr>
                      <a:r>
                        <a:rPr lang="en-US" sz="1600" u="none" cap="none" strike="noStrike">
                          <a:latin typeface="Aharoni"/>
                          <a:ea typeface="Aharoni"/>
                          <a:cs typeface="Aharoni"/>
                          <a:sym typeface="Aharoni"/>
                        </a:rPr>
                        <a:t>SALES AND PROFIT ACROSS SEGMENT</a:t>
                      </a:r>
                      <a:endParaRPr b="0" i="0" sz="1600" u="none" cap="none" strike="noStrike">
                        <a:solidFill>
                          <a:srgbClr val="000000"/>
                        </a:solidFill>
                        <a:latin typeface="Aharoni"/>
                        <a:ea typeface="Aharoni"/>
                        <a:cs typeface="Aharoni"/>
                        <a:sym typeface="Aharoni"/>
                      </a:endParaRPr>
                    </a:p>
                  </a:txBody>
                  <a:tcPr marT="6350" marB="0" marR="6350" marL="6350" anchor="ctr">
                    <a:solidFill>
                      <a:srgbClr val="7FE0CC"/>
                    </a:solidFill>
                  </a:tcPr>
                </a:tc>
              </a:tr>
            </a:tbl>
          </a:graphicData>
        </a:graphic>
      </p:graphicFrame>
      <p:sp>
        <p:nvSpPr>
          <p:cNvPr id="189" name="Google Shape;189;p7"/>
          <p:cNvSpPr txBox="1"/>
          <p:nvPr/>
        </p:nvSpPr>
        <p:spPr>
          <a:xfrm>
            <a:off x="7872247" y="1723698"/>
            <a:ext cx="3993931" cy="618630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lt1"/>
                </a:solidFill>
                <a:latin typeface="Century Gothic"/>
                <a:ea typeface="Century Gothic"/>
                <a:cs typeface="Century Gothic"/>
                <a:sym typeface="Century Gothic"/>
              </a:rPr>
              <a:t>OBSERVATION</a:t>
            </a:r>
            <a:endParaRPr/>
          </a:p>
          <a:p>
            <a:pPr indent="0" lvl="0" marL="0" marR="0" rtl="0" algn="l">
              <a:spcBef>
                <a:spcPts val="0"/>
              </a:spcBef>
              <a:spcAft>
                <a:spcPts val="0"/>
              </a:spcAft>
              <a:buNone/>
            </a:pPr>
            <a:r>
              <a:rPr b="1" lang="en-US" sz="2400">
                <a:solidFill>
                  <a:schemeClr val="lt1"/>
                </a:solidFill>
                <a:latin typeface="Century Gothic"/>
                <a:ea typeface="Century Gothic"/>
                <a:cs typeface="Century Gothic"/>
                <a:sym typeface="Century Gothic"/>
              </a:rPr>
              <a:t>.</a:t>
            </a:r>
            <a:r>
              <a:rPr lang="en-US" sz="2400">
                <a:solidFill>
                  <a:schemeClr val="lt1"/>
                </a:solidFill>
                <a:latin typeface="Arial"/>
                <a:ea typeface="Arial"/>
                <a:cs typeface="Arial"/>
                <a:sym typeface="Arial"/>
              </a:rPr>
              <a:t> </a:t>
            </a:r>
            <a:r>
              <a:rPr lang="en-US" sz="2000">
                <a:solidFill>
                  <a:schemeClr val="lt1"/>
                </a:solidFill>
                <a:latin typeface="Century Gothic"/>
                <a:ea typeface="Century Gothic"/>
                <a:cs typeface="Century Gothic"/>
                <a:sym typeface="Century Gothic"/>
              </a:rPr>
              <a:t>The Government segment records the highest sales but also has moderate profit, suggesting high revenue but potentially lower profit margins.</a:t>
            </a:r>
            <a:endParaRPr/>
          </a:p>
          <a:p>
            <a:pPr indent="0" lvl="0" marL="0" marR="0" rtl="0" algn="l">
              <a:spcBef>
                <a:spcPts val="0"/>
              </a:spcBef>
              <a:spcAft>
                <a:spcPts val="0"/>
              </a:spcAft>
              <a:buNone/>
            </a:pPr>
            <a:r>
              <a:t/>
            </a:r>
            <a:endParaRPr sz="2000">
              <a:solidFill>
                <a:schemeClr val="lt1"/>
              </a:solidFill>
              <a:latin typeface="Century Gothic"/>
              <a:ea typeface="Century Gothic"/>
              <a:cs typeface="Century Gothic"/>
              <a:sym typeface="Century Gothic"/>
            </a:endParaRPr>
          </a:p>
          <a:p>
            <a:pPr indent="0" lvl="0" marL="0" marR="0" rtl="0" algn="l">
              <a:spcBef>
                <a:spcPts val="0"/>
              </a:spcBef>
              <a:spcAft>
                <a:spcPts val="0"/>
              </a:spcAft>
              <a:buNone/>
            </a:pPr>
            <a:r>
              <a:rPr lang="en-US" sz="2000">
                <a:solidFill>
                  <a:schemeClr val="lt1"/>
                </a:solidFill>
                <a:latin typeface="Century Gothic"/>
                <a:ea typeface="Century Gothic"/>
                <a:cs typeface="Century Gothic"/>
                <a:sym typeface="Century Gothic"/>
              </a:rPr>
              <a:t>. The Enterprise segment shows moderate sales with minimal profit, hinting at narrow margins.</a:t>
            </a:r>
            <a:endParaRPr sz="2000">
              <a:solidFill>
                <a:schemeClr val="lt1"/>
              </a:solidFill>
              <a:latin typeface="Century Gothic"/>
              <a:ea typeface="Century Gothic"/>
              <a:cs typeface="Century Gothic"/>
              <a:sym typeface="Century Gothic"/>
            </a:endParaRPr>
          </a:p>
          <a:p>
            <a:pPr indent="0" lvl="0" marL="0" marR="0" rtl="0" algn="l">
              <a:spcBef>
                <a:spcPts val="0"/>
              </a:spcBef>
              <a:spcAft>
                <a:spcPts val="0"/>
              </a:spcAft>
              <a:buNone/>
            </a:pPr>
            <a:r>
              <a:t/>
            </a:r>
            <a:endParaRPr sz="2000">
              <a:solidFill>
                <a:schemeClr val="lt1"/>
              </a:solidFill>
              <a:latin typeface="Century Gothic"/>
              <a:ea typeface="Century Gothic"/>
              <a:cs typeface="Century Gothic"/>
              <a:sym typeface="Century Gothic"/>
            </a:endParaRPr>
          </a:p>
          <a:p>
            <a:pPr indent="0" lvl="0" marL="0" marR="0" rtl="0" algn="l">
              <a:spcBef>
                <a:spcPts val="0"/>
              </a:spcBef>
              <a:spcAft>
                <a:spcPts val="0"/>
              </a:spcAft>
              <a:buNone/>
            </a:pPr>
            <a:r>
              <a:rPr lang="en-US" sz="2000">
                <a:solidFill>
                  <a:schemeClr val="lt1"/>
                </a:solidFill>
                <a:latin typeface="Century Gothic"/>
                <a:ea typeface="Century Gothic"/>
                <a:cs typeface="Century Gothic"/>
                <a:sym typeface="Century Gothic"/>
              </a:rPr>
              <a:t>.</a:t>
            </a:r>
            <a:r>
              <a:rPr b="1" lang="en-US" sz="2000">
                <a:solidFill>
                  <a:schemeClr val="lt1"/>
                </a:solidFill>
                <a:latin typeface="Century Gothic"/>
                <a:ea typeface="Century Gothic"/>
                <a:cs typeface="Century Gothic"/>
                <a:sym typeface="Century Gothic"/>
              </a:rPr>
              <a:t> </a:t>
            </a:r>
            <a:r>
              <a:rPr lang="en-US" sz="2000">
                <a:solidFill>
                  <a:schemeClr val="lt1"/>
                </a:solidFill>
                <a:latin typeface="Century Gothic"/>
                <a:ea typeface="Century Gothic"/>
                <a:cs typeface="Century Gothic"/>
                <a:sym typeface="Century Gothic"/>
              </a:rPr>
              <a:t>Channel Partners and Midmarket segments contribute the least to both sales and profit.</a:t>
            </a:r>
            <a:endParaRPr/>
          </a:p>
          <a:p>
            <a:pPr indent="0" lvl="0" marL="0" marR="0" rtl="0" algn="l">
              <a:spcBef>
                <a:spcPts val="0"/>
              </a:spcBef>
              <a:spcAft>
                <a:spcPts val="0"/>
              </a:spcAft>
              <a:buNone/>
            </a:pPr>
            <a:r>
              <a:t/>
            </a:r>
            <a:endParaRPr sz="2400">
              <a:solidFill>
                <a:schemeClr val="lt1"/>
              </a:solidFill>
              <a:latin typeface="Arial"/>
              <a:ea typeface="Arial"/>
              <a:cs typeface="Arial"/>
              <a:sym typeface="Arial"/>
            </a:endParaRPr>
          </a:p>
          <a:p>
            <a:pPr indent="0" lvl="0" marL="0" marR="0" rtl="0" algn="l">
              <a:spcBef>
                <a:spcPts val="0"/>
              </a:spcBef>
              <a:spcAft>
                <a:spcPts val="0"/>
              </a:spcAft>
              <a:buNone/>
            </a:pPr>
            <a:r>
              <a:t/>
            </a:r>
            <a:endParaRPr b="1" sz="2400">
              <a:solidFill>
                <a:schemeClr val="lt1"/>
              </a:solidFill>
              <a:latin typeface="Century Gothic"/>
              <a:ea typeface="Century Gothic"/>
              <a:cs typeface="Century Gothic"/>
              <a:sym typeface="Century Gothic"/>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graphicFrame>
        <p:nvGraphicFramePr>
          <p:cNvPr id="194" name="Google Shape;194;p8"/>
          <p:cNvGraphicFramePr/>
          <p:nvPr/>
        </p:nvGraphicFramePr>
        <p:xfrm>
          <a:off x="435429" y="2253343"/>
          <a:ext cx="6810526" cy="4517571"/>
        </p:xfrm>
        <a:graphic>
          <a:graphicData uri="http://schemas.openxmlformats.org/drawingml/2006/chart">
            <c:chart r:id="rId3"/>
          </a:graphicData>
        </a:graphic>
      </p:graphicFrame>
      <p:graphicFrame>
        <p:nvGraphicFramePr>
          <p:cNvPr id="195" name="Google Shape;195;p8"/>
          <p:cNvGraphicFramePr/>
          <p:nvPr/>
        </p:nvGraphicFramePr>
        <p:xfrm>
          <a:off x="1707092" y="1685816"/>
          <a:ext cx="3000000" cy="3000000"/>
        </p:xfrm>
        <a:graphic>
          <a:graphicData uri="http://schemas.openxmlformats.org/drawingml/2006/table">
            <a:tbl>
              <a:tblPr>
                <a:noFill/>
                <a:tableStyleId>{B14E1C2A-1501-4656-B1C8-67FE28E2C0BB}</a:tableStyleId>
              </a:tblPr>
              <a:tblGrid>
                <a:gridCol w="4267200"/>
              </a:tblGrid>
              <a:tr h="286950">
                <a:tc>
                  <a:txBody>
                    <a:bodyPr/>
                    <a:lstStyle/>
                    <a:p>
                      <a:pPr indent="0" lvl="0" marL="0" marR="0" rtl="0" algn="ctr">
                        <a:spcBef>
                          <a:spcPts val="0"/>
                        </a:spcBef>
                        <a:spcAft>
                          <a:spcPts val="0"/>
                        </a:spcAft>
                        <a:buClr>
                          <a:schemeClr val="lt1"/>
                        </a:buClr>
                        <a:buSzPts val="1600"/>
                        <a:buFont typeface="Aharoni"/>
                        <a:buNone/>
                      </a:pPr>
                      <a:r>
                        <a:rPr b="1" lang="en-US" sz="1600" u="none" cap="none" strike="noStrike">
                          <a:latin typeface="Aharoni"/>
                          <a:ea typeface="Aharoni"/>
                          <a:cs typeface="Aharoni"/>
                          <a:sym typeface="Aharoni"/>
                        </a:rPr>
                        <a:t>SALES AND PROFIT ACROSS COUNTRY</a:t>
                      </a:r>
                      <a:endParaRPr b="1" i="0" sz="1600" u="none" cap="none" strike="noStrike">
                        <a:solidFill>
                          <a:srgbClr val="000000"/>
                        </a:solidFill>
                        <a:latin typeface="Aharoni"/>
                        <a:ea typeface="Aharoni"/>
                        <a:cs typeface="Aharoni"/>
                        <a:sym typeface="Aharoni"/>
                      </a:endParaRPr>
                    </a:p>
                  </a:txBody>
                  <a:tcPr marT="6350" marB="0" marR="6350" marL="6350" anchor="ctr">
                    <a:solidFill>
                      <a:srgbClr val="7FE0CC"/>
                    </a:solidFill>
                  </a:tcPr>
                </a:tc>
              </a:tr>
            </a:tbl>
          </a:graphicData>
        </a:graphic>
      </p:graphicFrame>
      <p:sp>
        <p:nvSpPr>
          <p:cNvPr id="196" name="Google Shape;196;p8"/>
          <p:cNvSpPr txBox="1"/>
          <p:nvPr/>
        </p:nvSpPr>
        <p:spPr>
          <a:xfrm>
            <a:off x="7944694" y="1688991"/>
            <a:ext cx="3811877" cy="39087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lt1"/>
                </a:solidFill>
                <a:latin typeface="Century Gothic"/>
                <a:ea typeface="Century Gothic"/>
                <a:cs typeface="Century Gothic"/>
                <a:sym typeface="Century Gothic"/>
              </a:rPr>
              <a:t>OBSERVATION</a:t>
            </a:r>
            <a:endParaRPr/>
          </a:p>
          <a:p>
            <a:pPr indent="0" lvl="0" marL="0" marR="0" rtl="0" algn="l">
              <a:spcBef>
                <a:spcPts val="0"/>
              </a:spcBef>
              <a:spcAft>
                <a:spcPts val="0"/>
              </a:spcAft>
              <a:buNone/>
            </a:pPr>
            <a:r>
              <a:rPr b="1" lang="en-US" sz="2400">
                <a:solidFill>
                  <a:schemeClr val="lt1"/>
                </a:solidFill>
                <a:latin typeface="Century Gothic"/>
                <a:ea typeface="Century Gothic"/>
                <a:cs typeface="Century Gothic"/>
                <a:sym typeface="Century Gothic"/>
              </a:rPr>
              <a:t>. </a:t>
            </a:r>
            <a:r>
              <a:rPr lang="en-US" sz="2000">
                <a:solidFill>
                  <a:schemeClr val="lt1"/>
                </a:solidFill>
                <a:latin typeface="Century Gothic"/>
                <a:ea typeface="Century Gothic"/>
                <a:cs typeface="Century Gothic"/>
                <a:sym typeface="Century Gothic"/>
              </a:rPr>
              <a:t>Sales are relatively high and consistent across all countries, with Canada and the United States leading slightly.</a:t>
            </a:r>
            <a:endParaRPr/>
          </a:p>
          <a:p>
            <a:pPr indent="0" lvl="0" marL="0" marR="0" rtl="0" algn="l">
              <a:spcBef>
                <a:spcPts val="0"/>
              </a:spcBef>
              <a:spcAft>
                <a:spcPts val="0"/>
              </a:spcAft>
              <a:buNone/>
            </a:pPr>
            <a:r>
              <a:t/>
            </a:r>
            <a:endParaRPr sz="2000">
              <a:solidFill>
                <a:schemeClr val="lt1"/>
              </a:solidFill>
              <a:latin typeface="Century Gothic"/>
              <a:ea typeface="Century Gothic"/>
              <a:cs typeface="Century Gothic"/>
              <a:sym typeface="Century Gothic"/>
            </a:endParaRPr>
          </a:p>
          <a:p>
            <a:pPr indent="0" lvl="0" marL="0" marR="0" rtl="0" algn="l">
              <a:spcBef>
                <a:spcPts val="0"/>
              </a:spcBef>
              <a:spcAft>
                <a:spcPts val="0"/>
              </a:spcAft>
              <a:buNone/>
            </a:pPr>
            <a:r>
              <a:rPr lang="en-US" sz="2000">
                <a:solidFill>
                  <a:schemeClr val="lt1"/>
                </a:solidFill>
                <a:latin typeface="Century Gothic"/>
                <a:ea typeface="Century Gothic"/>
                <a:cs typeface="Century Gothic"/>
                <a:sym typeface="Century Gothic"/>
              </a:rPr>
              <a:t>.</a:t>
            </a:r>
            <a:r>
              <a:rPr b="1" lang="en-US" sz="2000">
                <a:solidFill>
                  <a:schemeClr val="lt1"/>
                </a:solidFill>
                <a:latin typeface="Century Gothic"/>
                <a:ea typeface="Century Gothic"/>
                <a:cs typeface="Century Gothic"/>
                <a:sym typeface="Century Gothic"/>
              </a:rPr>
              <a:t> </a:t>
            </a:r>
            <a:r>
              <a:rPr lang="en-US" sz="2000">
                <a:solidFill>
                  <a:schemeClr val="lt1"/>
                </a:solidFill>
                <a:latin typeface="Century Gothic"/>
                <a:ea typeface="Century Gothic"/>
                <a:cs typeface="Century Gothic"/>
                <a:sym typeface="Century Gothic"/>
              </a:rPr>
              <a:t>Profits, however, are much lower compared to sales in all markets, showing a clear gap between revenue and profitability.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graphicFrame>
        <p:nvGraphicFramePr>
          <p:cNvPr id="201" name="Google Shape;201;p9"/>
          <p:cNvGraphicFramePr/>
          <p:nvPr/>
        </p:nvGraphicFramePr>
        <p:xfrm>
          <a:off x="231228" y="2238703"/>
          <a:ext cx="5864772" cy="4372303"/>
        </p:xfrm>
        <a:graphic>
          <a:graphicData uri="http://schemas.openxmlformats.org/drawingml/2006/chart">
            <c:chart r:id="rId3"/>
          </a:graphicData>
        </a:graphic>
      </p:graphicFrame>
      <p:graphicFrame>
        <p:nvGraphicFramePr>
          <p:cNvPr id="202" name="Google Shape;202;p9"/>
          <p:cNvGraphicFramePr/>
          <p:nvPr/>
        </p:nvGraphicFramePr>
        <p:xfrm>
          <a:off x="1030014" y="1507137"/>
          <a:ext cx="3000000" cy="3000000"/>
        </p:xfrm>
        <a:graphic>
          <a:graphicData uri="http://schemas.openxmlformats.org/drawingml/2006/table">
            <a:tbl>
              <a:tblPr>
                <a:noFill/>
                <a:tableStyleId>{B14E1C2A-1501-4656-B1C8-67FE28E2C0BB}</a:tableStyleId>
              </a:tblPr>
              <a:tblGrid>
                <a:gridCol w="4267200"/>
              </a:tblGrid>
              <a:tr h="360525">
                <a:tc>
                  <a:txBody>
                    <a:bodyPr/>
                    <a:lstStyle/>
                    <a:p>
                      <a:pPr indent="0" lvl="0" marL="0" marR="0" rtl="0" algn="ctr">
                        <a:spcBef>
                          <a:spcPts val="0"/>
                        </a:spcBef>
                        <a:spcAft>
                          <a:spcPts val="0"/>
                        </a:spcAft>
                        <a:buClr>
                          <a:schemeClr val="lt1"/>
                        </a:buClr>
                        <a:buSzPts val="1600"/>
                        <a:buFont typeface="Aharoni"/>
                        <a:buNone/>
                      </a:pPr>
                      <a:r>
                        <a:rPr b="1" lang="en-US" sz="1600" u="none" cap="none" strike="noStrike">
                          <a:latin typeface="Aharoni"/>
                          <a:ea typeface="Aharoni"/>
                          <a:cs typeface="Aharoni"/>
                          <a:sym typeface="Aharoni"/>
                        </a:rPr>
                        <a:t>SALES AND PROFIT ACROSS PRODUCT</a:t>
                      </a:r>
                      <a:endParaRPr b="1" i="0" sz="1600" u="none" cap="none" strike="noStrike">
                        <a:solidFill>
                          <a:srgbClr val="000000"/>
                        </a:solidFill>
                        <a:latin typeface="Aharoni"/>
                        <a:ea typeface="Aharoni"/>
                        <a:cs typeface="Aharoni"/>
                        <a:sym typeface="Aharoni"/>
                      </a:endParaRPr>
                    </a:p>
                  </a:txBody>
                  <a:tcPr marT="6350" marB="0" marR="6350" marL="6350" anchor="ctr">
                    <a:solidFill>
                      <a:srgbClr val="7FE0CC"/>
                    </a:solidFill>
                  </a:tcPr>
                </a:tc>
              </a:tr>
            </a:tbl>
          </a:graphicData>
        </a:graphic>
      </p:graphicFrame>
      <p:sp>
        <p:nvSpPr>
          <p:cNvPr id="203" name="Google Shape;203;p9"/>
          <p:cNvSpPr txBox="1"/>
          <p:nvPr/>
        </p:nvSpPr>
        <p:spPr>
          <a:xfrm>
            <a:off x="7451834" y="1468272"/>
            <a:ext cx="4046482" cy="286232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lt1"/>
                </a:solidFill>
                <a:latin typeface="Century Gothic"/>
                <a:ea typeface="Century Gothic"/>
                <a:cs typeface="Century Gothic"/>
                <a:sym typeface="Century Gothic"/>
              </a:rPr>
              <a:t>OBSERVATION</a:t>
            </a:r>
            <a:endParaRPr/>
          </a:p>
          <a:p>
            <a:pPr indent="0" lvl="0" marL="0" marR="0" rtl="0" algn="l">
              <a:spcBef>
                <a:spcPts val="0"/>
              </a:spcBef>
              <a:spcAft>
                <a:spcPts val="0"/>
              </a:spcAft>
              <a:buNone/>
            </a:pPr>
            <a:r>
              <a:rPr lang="en-US" sz="2400">
                <a:solidFill>
                  <a:schemeClr val="lt1"/>
                </a:solidFill>
                <a:latin typeface="Century Gothic"/>
                <a:ea typeface="Century Gothic"/>
                <a:cs typeface="Century Gothic"/>
                <a:sym typeface="Century Gothic"/>
              </a:rPr>
              <a:t>.</a:t>
            </a:r>
            <a:r>
              <a:rPr b="1" lang="en-US" sz="2400">
                <a:solidFill>
                  <a:schemeClr val="lt1"/>
                </a:solidFill>
                <a:latin typeface="Century Gothic"/>
                <a:ea typeface="Century Gothic"/>
                <a:cs typeface="Century Gothic"/>
                <a:sym typeface="Century Gothic"/>
              </a:rPr>
              <a:t> </a:t>
            </a:r>
            <a:r>
              <a:rPr lang="en-US" sz="2000">
                <a:solidFill>
                  <a:schemeClr val="lt1"/>
                </a:solidFill>
                <a:latin typeface="Century Gothic"/>
                <a:ea typeface="Century Gothic"/>
                <a:cs typeface="Century Gothic"/>
                <a:sym typeface="Century Gothic"/>
              </a:rPr>
              <a:t>Paseo has the highest sales, but its profit is not proportionally higher</a:t>
            </a:r>
            <a:r>
              <a:rPr lang="en-US" sz="2400">
                <a:solidFill>
                  <a:schemeClr val="lt1"/>
                </a:solidFill>
                <a:latin typeface="Century Gothic"/>
                <a:ea typeface="Century Gothic"/>
                <a:cs typeface="Century Gothic"/>
                <a:sym typeface="Century Gothic"/>
              </a:rPr>
              <a:t>.</a:t>
            </a:r>
            <a:endParaRPr/>
          </a:p>
          <a:p>
            <a:pPr indent="0" lvl="0" marL="0" marR="0" rtl="0" algn="l">
              <a:spcBef>
                <a:spcPts val="0"/>
              </a:spcBef>
              <a:spcAft>
                <a:spcPts val="0"/>
              </a:spcAft>
              <a:buNone/>
            </a:pPr>
            <a:r>
              <a:t/>
            </a:r>
            <a:endParaRPr sz="2400">
              <a:solidFill>
                <a:schemeClr val="lt1"/>
              </a:solidFill>
              <a:latin typeface="Century Gothic"/>
              <a:ea typeface="Century Gothic"/>
              <a:cs typeface="Century Gothic"/>
              <a:sym typeface="Century Gothic"/>
            </a:endParaRPr>
          </a:p>
          <a:p>
            <a:pPr indent="0" lvl="0" marL="0" marR="0" rtl="0" algn="l">
              <a:spcBef>
                <a:spcPts val="0"/>
              </a:spcBef>
              <a:spcAft>
                <a:spcPts val="0"/>
              </a:spcAft>
              <a:buNone/>
            </a:pPr>
            <a:r>
              <a:rPr lang="en-US" sz="2400">
                <a:solidFill>
                  <a:schemeClr val="lt1"/>
                </a:solidFill>
                <a:latin typeface="Century Gothic"/>
                <a:ea typeface="Century Gothic"/>
                <a:cs typeface="Century Gothic"/>
                <a:sym typeface="Century Gothic"/>
              </a:rPr>
              <a:t>. </a:t>
            </a:r>
            <a:r>
              <a:rPr lang="en-US" sz="2000">
                <a:solidFill>
                  <a:schemeClr val="lt1"/>
                </a:solidFill>
                <a:latin typeface="Century Gothic"/>
                <a:ea typeface="Century Gothic"/>
                <a:cs typeface="Century Gothic"/>
                <a:sym typeface="Century Gothic"/>
              </a:rPr>
              <a:t>Across all products, profits are much lower than sales, highlighting thin margins.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graphicFrame>
        <p:nvGraphicFramePr>
          <p:cNvPr id="208" name="Google Shape;208;p10"/>
          <p:cNvGraphicFramePr/>
          <p:nvPr/>
        </p:nvGraphicFramePr>
        <p:xfrm>
          <a:off x="185057" y="2307771"/>
          <a:ext cx="5746729" cy="4234543"/>
        </p:xfrm>
        <a:graphic>
          <a:graphicData uri="http://schemas.openxmlformats.org/drawingml/2006/chart">
            <c:chart r:id="rId3"/>
          </a:graphicData>
        </a:graphic>
      </p:graphicFrame>
      <p:graphicFrame>
        <p:nvGraphicFramePr>
          <p:cNvPr id="209" name="Google Shape;209;p10"/>
          <p:cNvGraphicFramePr/>
          <p:nvPr/>
        </p:nvGraphicFramePr>
        <p:xfrm>
          <a:off x="924821" y="1642404"/>
          <a:ext cx="3000000" cy="3000000"/>
        </p:xfrm>
        <a:graphic>
          <a:graphicData uri="http://schemas.openxmlformats.org/drawingml/2006/table">
            <a:tbl>
              <a:tblPr>
                <a:noFill/>
                <a:tableStyleId>{B14E1C2A-1501-4656-B1C8-67FE28E2C0BB}</a:tableStyleId>
              </a:tblPr>
              <a:tblGrid>
                <a:gridCol w="4267200"/>
              </a:tblGrid>
              <a:tr h="350700">
                <a:tc>
                  <a:txBody>
                    <a:bodyPr/>
                    <a:lstStyle/>
                    <a:p>
                      <a:pPr indent="0" lvl="0" marL="0" marR="0" rtl="0" algn="ctr">
                        <a:spcBef>
                          <a:spcPts val="0"/>
                        </a:spcBef>
                        <a:spcAft>
                          <a:spcPts val="0"/>
                        </a:spcAft>
                        <a:buClr>
                          <a:schemeClr val="lt1"/>
                        </a:buClr>
                        <a:buSzPts val="1600"/>
                        <a:buFont typeface="Aharoni"/>
                        <a:buNone/>
                      </a:pPr>
                      <a:r>
                        <a:rPr lang="en-US" sz="1600" u="none" cap="none" strike="noStrike">
                          <a:latin typeface="Aharoni"/>
                          <a:ea typeface="Aharoni"/>
                          <a:cs typeface="Aharoni"/>
                          <a:sym typeface="Aharoni"/>
                        </a:rPr>
                        <a:t>COGS</a:t>
                      </a:r>
                      <a:endParaRPr b="0" i="0" sz="1600" u="none" cap="none" strike="noStrike">
                        <a:solidFill>
                          <a:srgbClr val="000000"/>
                        </a:solidFill>
                        <a:latin typeface="Aharoni"/>
                        <a:ea typeface="Aharoni"/>
                        <a:cs typeface="Aharoni"/>
                        <a:sym typeface="Aharoni"/>
                      </a:endParaRPr>
                    </a:p>
                  </a:txBody>
                  <a:tcPr marT="6350" marB="0" marR="6350" marL="6350" anchor="ctr">
                    <a:solidFill>
                      <a:srgbClr val="7FE0CC"/>
                    </a:solidFill>
                  </a:tcPr>
                </a:tc>
              </a:tr>
            </a:tbl>
          </a:graphicData>
        </a:graphic>
      </p:graphicFrame>
      <p:sp>
        <p:nvSpPr>
          <p:cNvPr id="210" name="Google Shape;210;p10"/>
          <p:cNvSpPr txBox="1"/>
          <p:nvPr/>
        </p:nvSpPr>
        <p:spPr>
          <a:xfrm>
            <a:off x="7073465" y="1646264"/>
            <a:ext cx="4681230" cy="35394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lt1"/>
                </a:solidFill>
                <a:latin typeface="Century Gothic"/>
                <a:ea typeface="Century Gothic"/>
                <a:cs typeface="Century Gothic"/>
                <a:sym typeface="Century Gothic"/>
              </a:rPr>
              <a:t>OBSERVATION</a:t>
            </a:r>
            <a:endParaRPr/>
          </a:p>
          <a:p>
            <a:pPr indent="0" lvl="0" marL="0" marR="0" rtl="0" algn="l">
              <a:spcBef>
                <a:spcPts val="0"/>
              </a:spcBef>
              <a:spcAft>
                <a:spcPts val="0"/>
              </a:spcAft>
              <a:buNone/>
            </a:pPr>
            <a:r>
              <a:rPr lang="en-US" sz="2000">
                <a:solidFill>
                  <a:schemeClr val="lt1"/>
                </a:solidFill>
                <a:latin typeface="Century Gothic"/>
                <a:ea typeface="Century Gothic"/>
                <a:cs typeface="Century Gothic"/>
                <a:sym typeface="Century Gothic"/>
              </a:rPr>
              <a:t>. Paseo again has the highest COGS, reflecting its high sales volume, but profit is not proportionately high, indicating low profit margins.</a:t>
            </a:r>
            <a:endParaRPr/>
          </a:p>
          <a:p>
            <a:pPr indent="0" lvl="0" marL="0" marR="0" rtl="0" algn="l">
              <a:spcBef>
                <a:spcPts val="0"/>
              </a:spcBef>
              <a:spcAft>
                <a:spcPts val="0"/>
              </a:spcAft>
              <a:buNone/>
            </a:pPr>
            <a:r>
              <a:t/>
            </a:r>
            <a:endParaRPr sz="2000">
              <a:solidFill>
                <a:schemeClr val="lt1"/>
              </a:solidFill>
              <a:latin typeface="Century Gothic"/>
              <a:ea typeface="Century Gothic"/>
              <a:cs typeface="Century Gothic"/>
              <a:sym typeface="Century Gothic"/>
            </a:endParaRPr>
          </a:p>
          <a:p>
            <a:pPr indent="0" lvl="0" marL="0" marR="0" rtl="0" algn="l">
              <a:spcBef>
                <a:spcPts val="0"/>
              </a:spcBef>
              <a:spcAft>
                <a:spcPts val="0"/>
              </a:spcAft>
              <a:buNone/>
            </a:pPr>
            <a:r>
              <a:rPr lang="en-US" sz="2000">
                <a:solidFill>
                  <a:schemeClr val="lt1"/>
                </a:solidFill>
                <a:latin typeface="Century Gothic"/>
                <a:ea typeface="Century Gothic"/>
                <a:cs typeface="Century Gothic"/>
                <a:sym typeface="Century Gothic"/>
              </a:rPr>
              <a:t>. Across all categories, profits are visibly small relative to COGS, showing slim profit margins across the board.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graphicFrame>
        <p:nvGraphicFramePr>
          <p:cNvPr id="215" name="Google Shape;215;p11"/>
          <p:cNvGraphicFramePr/>
          <p:nvPr/>
        </p:nvGraphicFramePr>
        <p:xfrm>
          <a:off x="294290" y="2144486"/>
          <a:ext cx="6558455" cy="4637314"/>
        </p:xfrm>
        <a:graphic>
          <a:graphicData uri="http://schemas.openxmlformats.org/drawingml/2006/chart">
            <c:chart r:id="rId3"/>
          </a:graphicData>
        </a:graphic>
      </p:graphicFrame>
      <p:graphicFrame>
        <p:nvGraphicFramePr>
          <p:cNvPr id="216" name="Google Shape;216;p11"/>
          <p:cNvGraphicFramePr/>
          <p:nvPr/>
        </p:nvGraphicFramePr>
        <p:xfrm>
          <a:off x="1439917" y="1541844"/>
          <a:ext cx="3000000" cy="3000000"/>
        </p:xfrm>
        <a:graphic>
          <a:graphicData uri="http://schemas.openxmlformats.org/drawingml/2006/table">
            <a:tbl>
              <a:tblPr>
                <a:noFill/>
                <a:tableStyleId>{B14E1C2A-1501-4656-B1C8-67FE28E2C0BB}</a:tableStyleId>
              </a:tblPr>
              <a:tblGrid>
                <a:gridCol w="4267200"/>
              </a:tblGrid>
              <a:tr h="360525">
                <a:tc>
                  <a:txBody>
                    <a:bodyPr/>
                    <a:lstStyle/>
                    <a:p>
                      <a:pPr indent="0" lvl="0" marL="0" marR="0" rtl="0" algn="ctr">
                        <a:spcBef>
                          <a:spcPts val="0"/>
                        </a:spcBef>
                        <a:spcAft>
                          <a:spcPts val="0"/>
                        </a:spcAft>
                        <a:buClr>
                          <a:schemeClr val="lt1"/>
                        </a:buClr>
                        <a:buSzPts val="1600"/>
                        <a:buFont typeface="Aharoni"/>
                        <a:buNone/>
                      </a:pPr>
                      <a:r>
                        <a:rPr lang="en-US" sz="1600" u="none" cap="none" strike="noStrike">
                          <a:latin typeface="Aharoni"/>
                          <a:ea typeface="Aharoni"/>
                          <a:cs typeface="Aharoni"/>
                          <a:sym typeface="Aharoni"/>
                        </a:rPr>
                        <a:t>DISCOUNT % VS PROFIT MARGIN</a:t>
                      </a:r>
                      <a:endParaRPr b="0" i="0" sz="1600" u="none" cap="none" strike="noStrike">
                        <a:solidFill>
                          <a:srgbClr val="000000"/>
                        </a:solidFill>
                        <a:latin typeface="Aharoni"/>
                        <a:ea typeface="Aharoni"/>
                        <a:cs typeface="Aharoni"/>
                        <a:sym typeface="Aharoni"/>
                      </a:endParaRPr>
                    </a:p>
                  </a:txBody>
                  <a:tcPr marT="6350" marB="0" marR="6350" marL="6350" anchor="ctr">
                    <a:solidFill>
                      <a:srgbClr val="7FE0CC"/>
                    </a:solidFill>
                  </a:tcPr>
                </a:tc>
              </a:tr>
            </a:tbl>
          </a:graphicData>
        </a:graphic>
      </p:graphicFrame>
      <p:sp>
        <p:nvSpPr>
          <p:cNvPr id="217" name="Google Shape;217;p11"/>
          <p:cNvSpPr txBox="1"/>
          <p:nvPr/>
        </p:nvSpPr>
        <p:spPr>
          <a:xfrm>
            <a:off x="7977352" y="1541844"/>
            <a:ext cx="3993932" cy="298543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lt1"/>
                </a:solidFill>
                <a:latin typeface="Century Gothic"/>
                <a:ea typeface="Century Gothic"/>
                <a:cs typeface="Century Gothic"/>
                <a:sym typeface="Century Gothic"/>
              </a:rPr>
              <a:t>OBSERVATION</a:t>
            </a:r>
            <a:endParaRPr/>
          </a:p>
          <a:p>
            <a:pPr indent="0" lvl="0" marL="0" marR="0" rtl="0" algn="l">
              <a:spcBef>
                <a:spcPts val="0"/>
              </a:spcBef>
              <a:spcAft>
                <a:spcPts val="0"/>
              </a:spcAft>
              <a:buNone/>
            </a:pPr>
            <a:r>
              <a:rPr b="1" lang="en-US" sz="2400">
                <a:solidFill>
                  <a:schemeClr val="lt1"/>
                </a:solidFill>
                <a:latin typeface="Century Gothic"/>
                <a:ea typeface="Century Gothic"/>
                <a:cs typeface="Century Gothic"/>
                <a:sym typeface="Century Gothic"/>
              </a:rPr>
              <a:t>.</a:t>
            </a:r>
            <a:r>
              <a:rPr lang="en-US" sz="2400">
                <a:solidFill>
                  <a:schemeClr val="lt1"/>
                </a:solidFill>
                <a:latin typeface="Century Gothic"/>
                <a:ea typeface="Century Gothic"/>
                <a:cs typeface="Century Gothic"/>
                <a:sym typeface="Century Gothic"/>
              </a:rPr>
              <a:t> </a:t>
            </a:r>
            <a:r>
              <a:rPr lang="en-US" sz="2000">
                <a:solidFill>
                  <a:schemeClr val="lt1"/>
                </a:solidFill>
                <a:latin typeface="Century Gothic"/>
                <a:ea typeface="Century Gothic"/>
                <a:cs typeface="Century Gothic"/>
                <a:sym typeface="Century Gothic"/>
              </a:rPr>
              <a:t>Profit margin generally decreases as discount levels rise — at higher discounts, margins tend to cluster lower and even fall below 0%, leading to losses.</a:t>
            </a:r>
            <a:endParaRPr/>
          </a:p>
          <a:p>
            <a:pPr indent="0" lvl="0" marL="0" marR="0" rtl="0" algn="l">
              <a:spcBef>
                <a:spcPts val="0"/>
              </a:spcBef>
              <a:spcAft>
                <a:spcPts val="0"/>
              </a:spcAft>
              <a:buNone/>
            </a:pPr>
            <a:r>
              <a:t/>
            </a:r>
            <a:endParaRPr sz="2000">
              <a:solidFill>
                <a:schemeClr val="lt1"/>
              </a:solidFill>
              <a:latin typeface="Century Gothic"/>
              <a:ea typeface="Century Gothic"/>
              <a:cs typeface="Century Gothic"/>
              <a:sym typeface="Century Gothic"/>
            </a:endParaRPr>
          </a:p>
          <a:p>
            <a:pPr indent="0" lvl="0" marL="0" marR="0" rtl="0" algn="l">
              <a:spcBef>
                <a:spcPts val="0"/>
              </a:spcBef>
              <a:spcAft>
                <a:spcPts val="0"/>
              </a:spcAft>
              <a:buNone/>
            </a:pPr>
            <a:r>
              <a:t/>
            </a:r>
            <a:endParaRPr sz="2000">
              <a:solidFill>
                <a:schemeClr val="lt1"/>
              </a:solidFill>
              <a:latin typeface="Century Gothic"/>
              <a:ea typeface="Century Gothic"/>
              <a:cs typeface="Century Gothic"/>
              <a:sym typeface="Century Gothic"/>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graphicFrame>
        <p:nvGraphicFramePr>
          <p:cNvPr id="222" name="Google Shape;222;p12"/>
          <p:cNvGraphicFramePr/>
          <p:nvPr/>
        </p:nvGraphicFramePr>
        <p:xfrm>
          <a:off x="-1" y="2198913"/>
          <a:ext cx="6879771" cy="4299857"/>
        </p:xfrm>
        <a:graphic>
          <a:graphicData uri="http://schemas.openxmlformats.org/drawingml/2006/chart">
            <c:chart r:id="rId3"/>
          </a:graphicData>
        </a:graphic>
      </p:graphicFrame>
      <p:graphicFrame>
        <p:nvGraphicFramePr>
          <p:cNvPr id="223" name="Google Shape;223;p12"/>
          <p:cNvGraphicFramePr/>
          <p:nvPr/>
        </p:nvGraphicFramePr>
        <p:xfrm>
          <a:off x="1306284" y="1710421"/>
          <a:ext cx="3000000" cy="3000000"/>
        </p:xfrm>
        <a:graphic>
          <a:graphicData uri="http://schemas.openxmlformats.org/drawingml/2006/table">
            <a:tbl>
              <a:tblPr>
                <a:noFill/>
                <a:tableStyleId>{B14E1C2A-1501-4656-B1C8-67FE28E2C0BB}</a:tableStyleId>
              </a:tblPr>
              <a:tblGrid>
                <a:gridCol w="4267200"/>
              </a:tblGrid>
              <a:tr h="308650">
                <a:tc>
                  <a:txBody>
                    <a:bodyPr/>
                    <a:lstStyle/>
                    <a:p>
                      <a:pPr indent="0" lvl="0" marL="0" marR="0" rtl="0" algn="ctr">
                        <a:spcBef>
                          <a:spcPts val="0"/>
                        </a:spcBef>
                        <a:spcAft>
                          <a:spcPts val="0"/>
                        </a:spcAft>
                        <a:buClr>
                          <a:schemeClr val="lt1"/>
                        </a:buClr>
                        <a:buSzPts val="1600"/>
                        <a:buFont typeface="Aharoni"/>
                        <a:buNone/>
                      </a:pPr>
                      <a:r>
                        <a:rPr lang="en-US" sz="1600" u="none" cap="none" strike="noStrike">
                          <a:latin typeface="Aharoni"/>
                          <a:ea typeface="Aharoni"/>
                          <a:cs typeface="Aharoni"/>
                          <a:sym typeface="Aharoni"/>
                        </a:rPr>
                        <a:t>CONTRIBUTION % TO PROFIT</a:t>
                      </a:r>
                      <a:endParaRPr b="0" i="0" sz="1600" u="none" cap="none" strike="noStrike">
                        <a:solidFill>
                          <a:srgbClr val="000000"/>
                        </a:solidFill>
                        <a:latin typeface="Aharoni"/>
                        <a:ea typeface="Aharoni"/>
                        <a:cs typeface="Aharoni"/>
                        <a:sym typeface="Aharoni"/>
                      </a:endParaRPr>
                    </a:p>
                  </a:txBody>
                  <a:tcPr marT="6350" marB="0" marR="6350" marL="6350" anchor="ctr">
                    <a:solidFill>
                      <a:srgbClr val="7FE0CC"/>
                    </a:solidFill>
                  </a:tcPr>
                </a:tc>
              </a:tr>
            </a:tbl>
          </a:graphicData>
        </a:graphic>
      </p:graphicFrame>
      <p:sp>
        <p:nvSpPr>
          <p:cNvPr id="224" name="Google Shape;224;p12"/>
          <p:cNvSpPr txBox="1"/>
          <p:nvPr/>
        </p:nvSpPr>
        <p:spPr>
          <a:xfrm>
            <a:off x="7704083" y="1697145"/>
            <a:ext cx="4157967" cy="29238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lt1"/>
                </a:solidFill>
                <a:latin typeface="Century Gothic"/>
                <a:ea typeface="Century Gothic"/>
                <a:cs typeface="Century Gothic"/>
                <a:sym typeface="Century Gothic"/>
              </a:rPr>
              <a:t>OBSERVATION</a:t>
            </a:r>
            <a:endParaRPr/>
          </a:p>
          <a:p>
            <a:pPr indent="0" lvl="0" marL="0" marR="0" rtl="0" algn="l">
              <a:spcBef>
                <a:spcPts val="0"/>
              </a:spcBef>
              <a:spcAft>
                <a:spcPts val="0"/>
              </a:spcAft>
              <a:buNone/>
            </a:pPr>
            <a:r>
              <a:rPr lang="en-US" sz="2000">
                <a:solidFill>
                  <a:schemeClr val="lt1"/>
                </a:solidFill>
                <a:latin typeface="Century Gothic"/>
                <a:ea typeface="Century Gothic"/>
                <a:cs typeface="Century Gothic"/>
                <a:sym typeface="Century Gothic"/>
              </a:rPr>
              <a:t>. Paseo has the highest contribution (28.45%), indicating it is the leading product in sales.</a:t>
            </a:r>
            <a:endParaRPr/>
          </a:p>
          <a:p>
            <a:pPr indent="0" lvl="0" marL="0" marR="0" rtl="0" algn="l">
              <a:spcBef>
                <a:spcPts val="0"/>
              </a:spcBef>
              <a:spcAft>
                <a:spcPts val="0"/>
              </a:spcAft>
              <a:buNone/>
            </a:pPr>
            <a:r>
              <a:t/>
            </a:r>
            <a:endParaRPr sz="2000">
              <a:solidFill>
                <a:schemeClr val="lt1"/>
              </a:solidFill>
              <a:latin typeface="Century Gothic"/>
              <a:ea typeface="Century Gothic"/>
              <a:cs typeface="Century Gothic"/>
              <a:sym typeface="Century Gothic"/>
            </a:endParaRPr>
          </a:p>
          <a:p>
            <a:pPr indent="0" lvl="0" marL="0" marR="0" rtl="0" algn="l">
              <a:spcBef>
                <a:spcPts val="0"/>
              </a:spcBef>
              <a:spcAft>
                <a:spcPts val="0"/>
              </a:spcAft>
              <a:buNone/>
            </a:pPr>
            <a:r>
              <a:rPr lang="en-US" sz="2000">
                <a:solidFill>
                  <a:schemeClr val="lt1"/>
                </a:solidFill>
                <a:latin typeface="Century Gothic"/>
                <a:ea typeface="Century Gothic"/>
                <a:cs typeface="Century Gothic"/>
                <a:sym typeface="Century Gothic"/>
              </a:rPr>
              <a:t>.Carretera has the lowest contribution (10.81%), indicating it has the least contribution to profit.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3"/>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6000"/>
              <a:buFont typeface="ADLaM Display"/>
              <a:buNone/>
            </a:pPr>
            <a:r>
              <a:rPr lang="en-US" sz="6000">
                <a:latin typeface="ADLaM Display"/>
                <a:ea typeface="ADLaM Display"/>
                <a:cs typeface="ADLaM Display"/>
                <a:sym typeface="ADLaM Display"/>
              </a:rPr>
              <a:t>CONCLUSION</a:t>
            </a:r>
            <a:endParaRPr/>
          </a:p>
        </p:txBody>
      </p:sp>
      <p:sp>
        <p:nvSpPr>
          <p:cNvPr id="230" name="Google Shape;230;p13"/>
          <p:cNvSpPr txBox="1"/>
          <p:nvPr>
            <p:ph idx="1" type="body"/>
          </p:nvPr>
        </p:nvSpPr>
        <p:spPr>
          <a:xfrm>
            <a:off x="105103" y="2249214"/>
            <a:ext cx="11981793" cy="460878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200"/>
              <a:buChar char="•"/>
            </a:pPr>
            <a:r>
              <a:rPr lang="en-US"/>
              <a:t>At higher discount ranges (above 40%), the profit margin generally decreases indicating that excessive discounting significantly reduces or eliminates profitability. </a:t>
            </a:r>
            <a:endParaRPr/>
          </a:p>
          <a:p>
            <a:pPr indent="-228600" lvl="0" marL="228600" rtl="0" algn="l">
              <a:lnSpc>
                <a:spcPct val="90000"/>
              </a:lnSpc>
              <a:spcBef>
                <a:spcPts val="1000"/>
              </a:spcBef>
              <a:spcAft>
                <a:spcPts val="0"/>
              </a:spcAft>
              <a:buClr>
                <a:schemeClr val="lt1"/>
              </a:buClr>
              <a:buSzPts val="2200"/>
              <a:buChar char="•"/>
            </a:pPr>
            <a:r>
              <a:rPr lang="en-US"/>
              <a:t>Cost of Goods Sold (COGS) for certain products is unsustainably high.</a:t>
            </a:r>
            <a:endParaRPr/>
          </a:p>
          <a:p>
            <a:pPr indent="-228600" lvl="0" marL="228600" rtl="0" algn="l">
              <a:lnSpc>
                <a:spcPct val="90000"/>
              </a:lnSpc>
              <a:spcBef>
                <a:spcPts val="1000"/>
              </a:spcBef>
              <a:spcAft>
                <a:spcPts val="0"/>
              </a:spcAft>
              <a:buClr>
                <a:schemeClr val="lt1"/>
              </a:buClr>
              <a:buSzPts val="2200"/>
              <a:buChar char="•"/>
            </a:pPr>
            <a:r>
              <a:rPr lang="en-US"/>
              <a:t>Sales are strong across different countries and segments but unevenly distributed.</a:t>
            </a:r>
            <a:endParaRPr/>
          </a:p>
          <a:p>
            <a:pPr indent="-228600" lvl="0" marL="228600" rtl="0" algn="l">
              <a:lnSpc>
                <a:spcPct val="90000"/>
              </a:lnSpc>
              <a:spcBef>
                <a:spcPts val="1000"/>
              </a:spcBef>
              <a:spcAft>
                <a:spcPts val="0"/>
              </a:spcAft>
              <a:buClr>
                <a:schemeClr val="lt1"/>
              </a:buClr>
              <a:buSzPts val="2200"/>
              <a:buChar char="•"/>
            </a:pPr>
            <a:r>
              <a:rPr lang="en-US"/>
              <a:t>Few products and countries are driving most of the profit.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4"/>
          <p:cNvSpPr txBox="1"/>
          <p:nvPr>
            <p:ph type="title"/>
          </p:nvPr>
        </p:nvSpPr>
        <p:spPr>
          <a:xfrm>
            <a:off x="2895600" y="764373"/>
            <a:ext cx="8610600" cy="1293028"/>
          </a:xfrm>
          <a:prstGeom prst="rect">
            <a:avLst/>
          </a:prstGeom>
          <a:noFill/>
          <a:ln>
            <a:noFill/>
          </a:ln>
        </p:spPr>
        <p:txBody>
          <a:bodyPr anchorCtr="0" anchor="ctr" bIns="45700" lIns="91425" spcFirstLastPara="1" rIns="91425" wrap="square" tIns="45700">
            <a:normAutofit/>
          </a:bodyPr>
          <a:lstStyle/>
          <a:p>
            <a:pPr indent="0" lvl="0" marL="0" rtl="0" algn="r">
              <a:lnSpc>
                <a:spcPct val="90000"/>
              </a:lnSpc>
              <a:spcBef>
                <a:spcPts val="0"/>
              </a:spcBef>
              <a:spcAft>
                <a:spcPts val="0"/>
              </a:spcAft>
              <a:buClr>
                <a:schemeClr val="lt1"/>
              </a:buClr>
              <a:buSzPts val="6000"/>
              <a:buFont typeface="ADLaM Display"/>
              <a:buNone/>
            </a:pPr>
            <a:r>
              <a:rPr b="1" lang="en-US" sz="6000">
                <a:latin typeface="ADLaM Display"/>
                <a:ea typeface="ADLaM Display"/>
                <a:cs typeface="ADLaM Display"/>
                <a:sym typeface="ADLaM Display"/>
              </a:rPr>
              <a:t>RECOMMENDATION</a:t>
            </a:r>
            <a:endParaRPr/>
          </a:p>
        </p:txBody>
      </p:sp>
      <p:sp>
        <p:nvSpPr>
          <p:cNvPr id="236" name="Google Shape;236;p14"/>
          <p:cNvSpPr txBox="1"/>
          <p:nvPr>
            <p:ph idx="1" type="body"/>
          </p:nvPr>
        </p:nvSpPr>
        <p:spPr>
          <a:xfrm>
            <a:off x="685800" y="1930785"/>
            <a:ext cx="10820400" cy="4024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200"/>
              <a:buChar char="•"/>
            </a:pPr>
            <a:r>
              <a:rPr lang="en-US"/>
              <a:t>Government and midmarket, United states of America and Canada are the top performing segments and countries. Focus investments on top-performing segments and countries.</a:t>
            </a:r>
            <a:endParaRPr/>
          </a:p>
          <a:p>
            <a:pPr indent="-228600" lvl="0" marL="228600" rtl="0" algn="l">
              <a:lnSpc>
                <a:spcPct val="90000"/>
              </a:lnSpc>
              <a:spcBef>
                <a:spcPts val="1000"/>
              </a:spcBef>
              <a:spcAft>
                <a:spcPts val="0"/>
              </a:spcAft>
              <a:buClr>
                <a:schemeClr val="lt1"/>
              </a:buClr>
              <a:buSzPts val="2200"/>
              <a:buChar char="•"/>
            </a:pPr>
            <a:r>
              <a:rPr lang="en-US"/>
              <a:t>Reevaluate discount strategies to protect margins. </a:t>
            </a:r>
            <a:endParaRPr/>
          </a:p>
          <a:p>
            <a:pPr indent="-228600" lvl="0" marL="228600" rtl="0" algn="l">
              <a:lnSpc>
                <a:spcPct val="90000"/>
              </a:lnSpc>
              <a:spcBef>
                <a:spcPts val="1000"/>
              </a:spcBef>
              <a:spcAft>
                <a:spcPts val="0"/>
              </a:spcAft>
              <a:buClr>
                <a:schemeClr val="lt1"/>
              </a:buClr>
              <a:buSzPts val="2200"/>
              <a:buChar char="•"/>
            </a:pPr>
            <a:r>
              <a:rPr lang="en-US"/>
              <a:t>Reduce excessive discounts in loss-making products.</a:t>
            </a:r>
            <a:endParaRPr/>
          </a:p>
          <a:p>
            <a:pPr indent="-228600" lvl="0" marL="228600" rtl="0" algn="l">
              <a:lnSpc>
                <a:spcPct val="90000"/>
              </a:lnSpc>
              <a:spcBef>
                <a:spcPts val="1000"/>
              </a:spcBef>
              <a:spcAft>
                <a:spcPts val="0"/>
              </a:spcAft>
              <a:buClr>
                <a:schemeClr val="lt1"/>
              </a:buClr>
              <a:buSzPts val="2200"/>
              <a:buChar char="•"/>
            </a:pPr>
            <a:r>
              <a:rPr lang="en-US"/>
              <a:t>Monitor COGS and streamline operations in high-cost areas.</a:t>
            </a:r>
            <a:endParaRPr/>
          </a:p>
          <a:p>
            <a:pPr indent="-228600" lvl="0" marL="228600" rtl="0" algn="l">
              <a:lnSpc>
                <a:spcPct val="90000"/>
              </a:lnSpc>
              <a:spcBef>
                <a:spcPts val="1000"/>
              </a:spcBef>
              <a:spcAft>
                <a:spcPts val="0"/>
              </a:spcAft>
              <a:buClr>
                <a:schemeClr val="lt1"/>
              </a:buClr>
              <a:buSzPts val="2200"/>
              <a:buChar char="•"/>
            </a:pPr>
            <a:r>
              <a:rPr lang="en-US"/>
              <a:t>Re-align budget towards segments with sustainable profitability.  </a:t>
            </a:r>
            <a:endParaRPr/>
          </a:p>
          <a:p>
            <a:pPr indent="-228600" lvl="0" marL="228600" rtl="0" algn="l">
              <a:lnSpc>
                <a:spcPct val="90000"/>
              </a:lnSpc>
              <a:spcBef>
                <a:spcPts val="1000"/>
              </a:spcBef>
              <a:spcAft>
                <a:spcPts val="0"/>
              </a:spcAft>
              <a:buClr>
                <a:schemeClr val="lt1"/>
              </a:buClr>
              <a:buSzPts val="2200"/>
              <a:buChar char="•"/>
            </a:pPr>
            <a:r>
              <a:rPr lang="en-US"/>
              <a:t>Implement continuous monitoring dashboards for decision-making.</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5"/>
          <p:cNvSpPr txBox="1"/>
          <p:nvPr/>
        </p:nvSpPr>
        <p:spPr>
          <a:xfrm>
            <a:off x="3935767" y="2921168"/>
            <a:ext cx="4649030" cy="10156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6000">
                <a:solidFill>
                  <a:schemeClr val="lt1"/>
                </a:solidFill>
                <a:latin typeface="ADLaM Display"/>
                <a:ea typeface="ADLaM Display"/>
                <a:cs typeface="ADLaM Display"/>
                <a:sym typeface="ADLaM Display"/>
              </a:rPr>
              <a:t>THANK YOU</a:t>
            </a:r>
            <a:endParaRPr/>
          </a:p>
        </p:txBody>
      </p:sp>
      <p:cxnSp>
        <p:nvCxnSpPr>
          <p:cNvPr id="242" name="Google Shape;242;p15"/>
          <p:cNvCxnSpPr/>
          <p:nvPr/>
        </p:nvCxnSpPr>
        <p:spPr>
          <a:xfrm>
            <a:off x="4614041" y="3974324"/>
            <a:ext cx="3384331" cy="0"/>
          </a:xfrm>
          <a:prstGeom prst="straightConnector1">
            <a:avLst/>
          </a:prstGeom>
          <a:noFill/>
          <a:ln cap="flat" cmpd="sng" w="9525">
            <a:solidFill>
              <a:schemeClr val="accent2"/>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2025-10-01T10:09:03Z</dcterms:created>
  <dc:creator>m0e mAu</dc:creator>
</cp:coreProperties>
</file>